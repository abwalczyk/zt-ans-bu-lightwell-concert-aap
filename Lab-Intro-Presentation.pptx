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this lab is not about finding vulnerabilities. It is about what happens the instant a trusted fix exists.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vulnerability programs are a detection pipeline bolted onto a manual remediation process. We're going to invert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idea of the lab. Everything downstream follows from moving the trigger.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Concert is an inventory and topology service here, not the orchestrator. AO owns routing and policy.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left to right. The thing to notice is step 1: the trigger is a fix being published, not a flaw being found. Concert owns the bottom lane -- it answers 'who is affected' in one API call and then gets written back to at the end so inventory reflects reality. Everything in the top lane is Ansible orchestrating and executing, with Tekton and ArgoCD doing the actual build and deploy. The dotted boxes are the conversation piece: Concert can own most of these steps itself -- Secure Coder opens the fix PR, Concert Workflows drive the change request and approval. We run them through AAP here because that is where the policy and the audit trail live, but the split is a design choice, not a constraint.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Timings are representative of the lab environment. The point is the shape of the curve, not the exact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is the interesting one conceptually; module 2 is where it gets satisfying to watch.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these out live as they happen rather than reading the slide up front.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real time for this. The ServiceNow and policy-gate questions usually generate the most disagreement.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off to the lab guide and start Module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mmit-title-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13232" y="2331720"/>
            <a:ext cx="8778240" cy="1463040"/>
          </a:xfrm>
          <a:prstGeom prst="rect">
            <a:avLst/>
          </a:prstGeom>
          <a:noFill/>
        </p:spPr>
        <p:txBody>
          <a:bodyPr wrap="square" lIns="0" rIns="0" tIns="0" bIns="0" anchor="t">
            <a:spAutoFit/>
          </a:bodyPr>
          <a:lstStyle/>
          <a:p>
            <a:pPr algn="l">
              <a:lnSpc>
                <a:spcPct val="105000"/>
              </a:lnSpc>
            </a:pPr>
            <a:r>
              <a:rPr sz="4000" b="0" i="0">
                <a:solidFill>
                  <a:srgbClr val="FFFFFF"/>
                </a:solidFill>
                <a:latin typeface="Red Hat Display"/>
              </a:rPr>
              <a:t>Lab: Proactive dependency</a:t>
            </a:r>
          </a:p>
          <a:p>
            <a:pPr algn="l">
              <a:lnSpc>
                <a:spcPct val="105000"/>
              </a:lnSpc>
            </a:pPr>
            <a:r>
              <a:rPr sz="4000" b="0" i="0">
                <a:solidFill>
                  <a:srgbClr val="FFFFFF"/>
                </a:solidFill>
                <a:latin typeface="Red Hat Display"/>
              </a:rPr>
              <a:t>remediation</a:t>
            </a:r>
          </a:p>
        </p:txBody>
      </p:sp>
      <p:sp>
        <p:nvSpPr>
          <p:cNvPr id="4" name="TextBox 3"/>
          <p:cNvSpPr txBox="1"/>
          <p:nvPr/>
        </p:nvSpPr>
        <p:spPr>
          <a:xfrm>
            <a:off x="731520" y="3931920"/>
            <a:ext cx="8778240" cy="365760"/>
          </a:xfrm>
          <a:prstGeom prst="rect">
            <a:avLst/>
          </a:prstGeom>
          <a:noFill/>
        </p:spPr>
        <p:txBody>
          <a:bodyPr wrap="square" lIns="0" rIns="0" tIns="0" bIns="0" anchor="t">
            <a:spAutoFit/>
          </a:bodyPr>
          <a:lstStyle/>
          <a:p>
            <a:pPr algn="l">
              <a:lnSpc>
                <a:spcPct val="100000"/>
              </a:lnSpc>
            </a:pPr>
            <a:r>
              <a:rPr sz="1900" b="0" i="1">
                <a:solidFill>
                  <a:srgbClr val="FFFFFF"/>
                </a:solidFill>
                <a:latin typeface="Red Hat Text"/>
              </a:rPr>
              <a:t>Start from the fix, not the flaw.</a:t>
            </a:r>
          </a:p>
        </p:txBody>
      </p:sp>
      <p:sp>
        <p:nvSpPr>
          <p:cNvPr id="5" name="TextBox 4"/>
          <p:cNvSpPr txBox="1"/>
          <p:nvPr/>
        </p:nvSpPr>
        <p:spPr>
          <a:xfrm>
            <a:off x="731520" y="4617720"/>
            <a:ext cx="9326880" cy="822960"/>
          </a:xfrm>
          <a:prstGeom prst="rect">
            <a:avLst/>
          </a:prstGeom>
          <a:noFill/>
        </p:spPr>
        <p:txBody>
          <a:bodyPr wrap="square" lIns="0" rIns="0" tIns="0" bIns="0" anchor="t">
            <a:spAutoFit/>
          </a:bodyPr>
          <a:lstStyle/>
          <a:p>
            <a:pPr algn="l">
              <a:lnSpc>
                <a:spcPct val="150000"/>
              </a:lnSpc>
            </a:pPr>
            <a:r>
              <a:rPr sz="1300" b="0" i="0">
                <a:solidFill>
                  <a:srgbClr val="FFFFFF"/>
                </a:solidFill>
                <a:latin typeface="Red Hat Text"/>
              </a:rPr>
              <a:t>Red Hat Lightwell  ·  IBM Concert  ·  Ansible Automation Platform  ·  Tekton  ·  ArgoCD</a:t>
            </a:r>
          </a:p>
          <a:p>
            <a:pPr algn="l">
              <a:lnSpc>
                <a:spcPct val="150000"/>
              </a:lnSpc>
            </a:pPr>
            <a:r>
              <a:rPr sz="1300" b="0" i="0">
                <a:solidFill>
                  <a:srgbClr val="FFFFFF"/>
                </a:solidFill>
                <a:latin typeface="Red Hat Text"/>
              </a:rPr>
              <a:t>~10 minute intro  ·  55 minutes hands-on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2</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Patching is reactive, and slow</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The bottleneck is not the fix — it is knowing where the fix needs to go</a:t>
            </a:r>
          </a:p>
        </p:txBody>
      </p:sp>
      <p:sp>
        <p:nvSpPr>
          <p:cNvPr id="8" name="TextBox 7"/>
          <p:cNvSpPr txBox="1"/>
          <p:nvPr/>
        </p:nvSpPr>
        <p:spPr>
          <a:xfrm>
            <a:off x="1051560" y="1691640"/>
            <a:ext cx="6035040" cy="320040"/>
          </a:xfrm>
          <a:prstGeom prst="rect">
            <a:avLst/>
          </a:prstGeom>
          <a:noFill/>
        </p:spPr>
        <p:txBody>
          <a:bodyPr wrap="square" lIns="0" rIns="0" tIns="0" bIns="0" anchor="t">
            <a:spAutoFit/>
          </a:bodyPr>
          <a:lstStyle/>
          <a:p>
            <a:pPr algn="l">
              <a:lnSpc>
                <a:spcPct val="100000"/>
              </a:lnSpc>
            </a:pPr>
            <a:r>
              <a:rPr sz="1700" b="1" i="0">
                <a:solidFill>
                  <a:srgbClr val="151515"/>
                </a:solidFill>
                <a:latin typeface="Red Hat Display"/>
              </a:rPr>
              <a:t>A CVE drops. Now what?</a:t>
            </a:r>
          </a:p>
        </p:txBody>
      </p:sp>
      <p:sp>
        <p:nvSpPr>
          <p:cNvPr id="9" name="TextBox 8"/>
          <p:cNvSpPr txBox="1"/>
          <p:nvPr/>
        </p:nvSpPr>
        <p:spPr>
          <a:xfrm>
            <a:off x="1097280" y="2194560"/>
            <a:ext cx="274320" cy="274320"/>
          </a:xfrm>
          <a:prstGeom prst="rect">
            <a:avLst/>
          </a:prstGeom>
          <a:noFill/>
        </p:spPr>
        <p:txBody>
          <a:bodyPr wrap="square" lIns="0" rIns="0" tIns="0" bIns="0" anchor="t">
            <a:spAutoFit/>
          </a:bodyPr>
          <a:lstStyle/>
          <a:p>
            <a:pPr algn="l">
              <a:lnSpc>
                <a:spcPct val="100000"/>
              </a:lnSpc>
            </a:pPr>
            <a:r>
              <a:rPr sz="1500" b="1" i="0">
                <a:solidFill>
                  <a:srgbClr val="EE0000"/>
                </a:solidFill>
                <a:latin typeface="Red Hat Text"/>
              </a:rPr>
              <a:t>›</a:t>
            </a:r>
          </a:p>
        </p:txBody>
      </p:sp>
      <p:sp>
        <p:nvSpPr>
          <p:cNvPr id="10" name="TextBox 9"/>
          <p:cNvSpPr txBox="1"/>
          <p:nvPr/>
        </p:nvSpPr>
        <p:spPr>
          <a:xfrm>
            <a:off x="1417320" y="2194560"/>
            <a:ext cx="5669280" cy="548640"/>
          </a:xfrm>
          <a:prstGeom prst="rect">
            <a:avLst/>
          </a:prstGeom>
          <a:noFill/>
        </p:spPr>
        <p:txBody>
          <a:bodyPr wrap="square" lIns="0" rIns="0" tIns="0" bIns="0" anchor="t">
            <a:spAutoFit/>
          </a:bodyPr>
          <a:lstStyle/>
          <a:p>
            <a:pPr algn="l">
              <a:lnSpc>
                <a:spcPct val="110000"/>
              </a:lnSpc>
            </a:pPr>
            <a:r>
              <a:rPr sz="1400" b="0" i="0">
                <a:solidFill>
                  <a:srgbClr val="151515"/>
                </a:solidFill>
                <a:latin typeface="Red Hat Text"/>
              </a:rPr>
              <a:t>Which of our applications actually use the affected package?</a:t>
            </a:r>
          </a:p>
        </p:txBody>
      </p:sp>
      <p:sp>
        <p:nvSpPr>
          <p:cNvPr id="11" name="TextBox 10"/>
          <p:cNvSpPr txBox="1"/>
          <p:nvPr/>
        </p:nvSpPr>
        <p:spPr>
          <a:xfrm>
            <a:off x="1097280" y="2670048"/>
            <a:ext cx="274320" cy="274320"/>
          </a:xfrm>
          <a:prstGeom prst="rect">
            <a:avLst/>
          </a:prstGeom>
          <a:noFill/>
        </p:spPr>
        <p:txBody>
          <a:bodyPr wrap="square" lIns="0" rIns="0" tIns="0" bIns="0" anchor="t">
            <a:spAutoFit/>
          </a:bodyPr>
          <a:lstStyle/>
          <a:p>
            <a:pPr algn="l">
              <a:lnSpc>
                <a:spcPct val="100000"/>
              </a:lnSpc>
            </a:pPr>
            <a:r>
              <a:rPr sz="1500" b="1" i="0">
                <a:solidFill>
                  <a:srgbClr val="EE0000"/>
                </a:solidFill>
                <a:latin typeface="Red Hat Text"/>
              </a:rPr>
              <a:t>›</a:t>
            </a:r>
          </a:p>
        </p:txBody>
      </p:sp>
      <p:sp>
        <p:nvSpPr>
          <p:cNvPr id="12" name="TextBox 11"/>
          <p:cNvSpPr txBox="1"/>
          <p:nvPr/>
        </p:nvSpPr>
        <p:spPr>
          <a:xfrm>
            <a:off x="1417320" y="2670048"/>
            <a:ext cx="5669280" cy="548640"/>
          </a:xfrm>
          <a:prstGeom prst="rect">
            <a:avLst/>
          </a:prstGeom>
          <a:noFill/>
        </p:spPr>
        <p:txBody>
          <a:bodyPr wrap="square" lIns="0" rIns="0" tIns="0" bIns="0" anchor="t">
            <a:spAutoFit/>
          </a:bodyPr>
          <a:lstStyle/>
          <a:p>
            <a:pPr algn="l">
              <a:lnSpc>
                <a:spcPct val="110000"/>
              </a:lnSpc>
            </a:pPr>
            <a:r>
              <a:rPr sz="1400" b="0" i="0">
                <a:solidFill>
                  <a:srgbClr val="151515"/>
                </a:solidFill>
                <a:latin typeface="Red Hat Text"/>
              </a:rPr>
              <a:t>Who owns them? What breaks downstream if we patch?</a:t>
            </a:r>
          </a:p>
        </p:txBody>
      </p:sp>
      <p:sp>
        <p:nvSpPr>
          <p:cNvPr id="13" name="TextBox 12"/>
          <p:cNvSpPr txBox="1"/>
          <p:nvPr/>
        </p:nvSpPr>
        <p:spPr>
          <a:xfrm>
            <a:off x="1097280" y="3145536"/>
            <a:ext cx="274320" cy="274320"/>
          </a:xfrm>
          <a:prstGeom prst="rect">
            <a:avLst/>
          </a:prstGeom>
          <a:noFill/>
        </p:spPr>
        <p:txBody>
          <a:bodyPr wrap="square" lIns="0" rIns="0" tIns="0" bIns="0" anchor="t">
            <a:spAutoFit/>
          </a:bodyPr>
          <a:lstStyle/>
          <a:p>
            <a:pPr algn="l">
              <a:lnSpc>
                <a:spcPct val="100000"/>
              </a:lnSpc>
            </a:pPr>
            <a:r>
              <a:rPr sz="1500" b="1" i="0">
                <a:solidFill>
                  <a:srgbClr val="EE0000"/>
                </a:solidFill>
                <a:latin typeface="Red Hat Text"/>
              </a:rPr>
              <a:t>›</a:t>
            </a:r>
          </a:p>
        </p:txBody>
      </p:sp>
      <p:sp>
        <p:nvSpPr>
          <p:cNvPr id="14" name="TextBox 13"/>
          <p:cNvSpPr txBox="1"/>
          <p:nvPr/>
        </p:nvSpPr>
        <p:spPr>
          <a:xfrm>
            <a:off x="1417320" y="3145536"/>
            <a:ext cx="5669280" cy="548640"/>
          </a:xfrm>
          <a:prstGeom prst="rect">
            <a:avLst/>
          </a:prstGeom>
          <a:noFill/>
        </p:spPr>
        <p:txBody>
          <a:bodyPr wrap="square" lIns="0" rIns="0" tIns="0" bIns="0" anchor="t">
            <a:spAutoFit/>
          </a:bodyPr>
          <a:lstStyle/>
          <a:p>
            <a:pPr algn="l">
              <a:lnSpc>
                <a:spcPct val="110000"/>
              </a:lnSpc>
            </a:pPr>
            <a:r>
              <a:rPr sz="1400" b="0" i="0">
                <a:solidFill>
                  <a:srgbClr val="151515"/>
                </a:solidFill>
                <a:latin typeface="Red Hat Text"/>
              </a:rPr>
              <a:t>Someone opens a spreadsheet. Weeks pass.</a:t>
            </a:r>
          </a:p>
        </p:txBody>
      </p:sp>
      <p:sp>
        <p:nvSpPr>
          <p:cNvPr id="15" name="TextBox 14"/>
          <p:cNvSpPr txBox="1"/>
          <p:nvPr/>
        </p:nvSpPr>
        <p:spPr>
          <a:xfrm>
            <a:off x="1051560" y="3849624"/>
            <a:ext cx="6126480" cy="822960"/>
          </a:xfrm>
          <a:prstGeom prst="rect">
            <a:avLst/>
          </a:prstGeom>
          <a:noFill/>
        </p:spPr>
        <p:txBody>
          <a:bodyPr wrap="square" lIns="0" rIns="0" tIns="0" bIns="0" anchor="t">
            <a:spAutoFit/>
          </a:bodyPr>
          <a:lstStyle/>
          <a:p>
            <a:pPr algn="l">
              <a:lnSpc>
                <a:spcPct val="115000"/>
              </a:lnSpc>
            </a:pPr>
            <a:r>
              <a:rPr sz="1400" b="0" i="0">
                <a:solidFill>
                  <a:srgbClr val="151515"/>
                </a:solidFill>
                <a:latin typeface="Red Hat Text"/>
              </a:rPr>
              <a:t>Industry average to remediate a critical dependency CVE is measured in weeks, not minutes.</a:t>
            </a:r>
          </a:p>
        </p:txBody>
      </p:sp>
      <p:sp>
        <p:nvSpPr>
          <p:cNvPr id="16" name="Rounded Rectangle 15"/>
          <p:cNvSpPr/>
          <p:nvPr/>
        </p:nvSpPr>
        <p:spPr>
          <a:xfrm>
            <a:off x="7726679" y="1691640"/>
            <a:ext cx="3566160" cy="3566160"/>
          </a:xfrm>
          <a:prstGeom prst="roundRect">
            <a:avLst>
              <a:gd name="adj" fmla="val 6000"/>
            </a:avLst>
          </a:prstGeom>
          <a:solidFill>
            <a:srgbClr val="FAFAFA"/>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28431" y="1920240"/>
            <a:ext cx="3017520" cy="274320"/>
          </a:xfrm>
          <a:prstGeom prst="rect">
            <a:avLst/>
          </a:prstGeom>
          <a:noFill/>
        </p:spPr>
        <p:txBody>
          <a:bodyPr wrap="square" lIns="0" rIns="0" tIns="0" bIns="0" anchor="t">
            <a:spAutoFit/>
          </a:bodyPr>
          <a:lstStyle/>
          <a:p>
            <a:pPr algn="l">
              <a:lnSpc>
                <a:spcPct val="100000"/>
              </a:lnSpc>
            </a:pPr>
            <a:r>
              <a:rPr sz="1100" b="1" i="0">
                <a:solidFill>
                  <a:srgbClr val="EE0000"/>
                </a:solidFill>
                <a:latin typeface="Red Hat Display"/>
              </a:rPr>
              <a:t>THE MANUAL LOOP</a:t>
            </a:r>
          </a:p>
        </p:txBody>
      </p:sp>
      <p:sp>
        <p:nvSpPr>
          <p:cNvPr id="18" name="Oval 17"/>
          <p:cNvSpPr/>
          <p:nvPr/>
        </p:nvSpPr>
        <p:spPr>
          <a:xfrm>
            <a:off x="8138159" y="2359152"/>
            <a:ext cx="237744" cy="237744"/>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1</a:t>
            </a:r>
          </a:p>
        </p:txBody>
      </p:sp>
      <p:sp>
        <p:nvSpPr>
          <p:cNvPr id="19" name="TextBox 18"/>
          <p:cNvSpPr txBox="1"/>
          <p:nvPr/>
        </p:nvSpPr>
        <p:spPr>
          <a:xfrm>
            <a:off x="8503920" y="2359152"/>
            <a:ext cx="2651760" cy="274320"/>
          </a:xfrm>
          <a:prstGeom prst="rect">
            <a:avLst/>
          </a:prstGeom>
          <a:noFill/>
        </p:spPr>
        <p:txBody>
          <a:bodyPr wrap="square" lIns="0" rIns="0" tIns="0" bIns="0" anchor="t">
            <a:spAutoFit/>
          </a:bodyPr>
          <a:lstStyle/>
          <a:p>
            <a:pPr algn="l">
              <a:lnSpc>
                <a:spcPct val="100000"/>
              </a:lnSpc>
            </a:pPr>
            <a:r>
              <a:rPr sz="1250" b="0" i="0">
                <a:solidFill>
                  <a:srgbClr val="151515"/>
                </a:solidFill>
                <a:latin typeface="Red Hat Text"/>
              </a:rPr>
              <a:t>Scanner flags a CVE</a:t>
            </a:r>
          </a:p>
        </p:txBody>
      </p:sp>
      <p:sp>
        <p:nvSpPr>
          <p:cNvPr id="20" name="Oval 19"/>
          <p:cNvSpPr/>
          <p:nvPr/>
        </p:nvSpPr>
        <p:spPr>
          <a:xfrm>
            <a:off x="8138159" y="2752344"/>
            <a:ext cx="237744" cy="237744"/>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2</a:t>
            </a:r>
          </a:p>
        </p:txBody>
      </p:sp>
      <p:sp>
        <p:nvSpPr>
          <p:cNvPr id="21" name="TextBox 20"/>
          <p:cNvSpPr txBox="1"/>
          <p:nvPr/>
        </p:nvSpPr>
        <p:spPr>
          <a:xfrm>
            <a:off x="8503920" y="2752344"/>
            <a:ext cx="2651760" cy="274320"/>
          </a:xfrm>
          <a:prstGeom prst="rect">
            <a:avLst/>
          </a:prstGeom>
          <a:noFill/>
        </p:spPr>
        <p:txBody>
          <a:bodyPr wrap="square" lIns="0" rIns="0" tIns="0" bIns="0" anchor="t">
            <a:spAutoFit/>
          </a:bodyPr>
          <a:lstStyle/>
          <a:p>
            <a:pPr algn="l">
              <a:lnSpc>
                <a:spcPct val="100000"/>
              </a:lnSpc>
            </a:pPr>
            <a:r>
              <a:rPr sz="1250" b="0" i="0">
                <a:solidFill>
                  <a:srgbClr val="151515"/>
                </a:solidFill>
                <a:latin typeface="Red Hat Text"/>
              </a:rPr>
              <a:t>Hunt for affected apps</a:t>
            </a:r>
          </a:p>
        </p:txBody>
      </p:sp>
      <p:sp>
        <p:nvSpPr>
          <p:cNvPr id="22" name="Oval 21"/>
          <p:cNvSpPr/>
          <p:nvPr/>
        </p:nvSpPr>
        <p:spPr>
          <a:xfrm>
            <a:off x="8138159" y="3145536"/>
            <a:ext cx="237744" cy="237744"/>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3</a:t>
            </a:r>
          </a:p>
        </p:txBody>
      </p:sp>
      <p:sp>
        <p:nvSpPr>
          <p:cNvPr id="23" name="TextBox 22"/>
          <p:cNvSpPr txBox="1"/>
          <p:nvPr/>
        </p:nvSpPr>
        <p:spPr>
          <a:xfrm>
            <a:off x="8503920" y="3145536"/>
            <a:ext cx="2651760" cy="274320"/>
          </a:xfrm>
          <a:prstGeom prst="rect">
            <a:avLst/>
          </a:prstGeom>
          <a:noFill/>
        </p:spPr>
        <p:txBody>
          <a:bodyPr wrap="square" lIns="0" rIns="0" tIns="0" bIns="0" anchor="t">
            <a:spAutoFit/>
          </a:bodyPr>
          <a:lstStyle/>
          <a:p>
            <a:pPr algn="l">
              <a:lnSpc>
                <a:spcPct val="100000"/>
              </a:lnSpc>
            </a:pPr>
            <a:r>
              <a:rPr sz="1250" b="0" i="0">
                <a:solidFill>
                  <a:srgbClr val="151515"/>
                </a:solidFill>
                <a:latin typeface="Red Hat Text"/>
              </a:rPr>
              <a:t>Chase down owners</a:t>
            </a:r>
          </a:p>
        </p:txBody>
      </p:sp>
      <p:sp>
        <p:nvSpPr>
          <p:cNvPr id="24" name="Oval 23"/>
          <p:cNvSpPr/>
          <p:nvPr/>
        </p:nvSpPr>
        <p:spPr>
          <a:xfrm>
            <a:off x="8138159" y="3538728"/>
            <a:ext cx="237744" cy="237744"/>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4</a:t>
            </a:r>
          </a:p>
        </p:txBody>
      </p:sp>
      <p:sp>
        <p:nvSpPr>
          <p:cNvPr id="25" name="TextBox 24"/>
          <p:cNvSpPr txBox="1"/>
          <p:nvPr/>
        </p:nvSpPr>
        <p:spPr>
          <a:xfrm>
            <a:off x="8503920" y="3538728"/>
            <a:ext cx="2651760" cy="274320"/>
          </a:xfrm>
          <a:prstGeom prst="rect">
            <a:avLst/>
          </a:prstGeom>
          <a:noFill/>
        </p:spPr>
        <p:txBody>
          <a:bodyPr wrap="square" lIns="0" rIns="0" tIns="0" bIns="0" anchor="t">
            <a:spAutoFit/>
          </a:bodyPr>
          <a:lstStyle/>
          <a:p>
            <a:pPr algn="l">
              <a:lnSpc>
                <a:spcPct val="100000"/>
              </a:lnSpc>
            </a:pPr>
            <a:r>
              <a:rPr sz="1250" b="0" i="0">
                <a:solidFill>
                  <a:srgbClr val="151515"/>
                </a:solidFill>
                <a:latin typeface="Red Hat Text"/>
              </a:rPr>
              <a:t>Open tickets</a:t>
            </a:r>
          </a:p>
        </p:txBody>
      </p:sp>
      <p:sp>
        <p:nvSpPr>
          <p:cNvPr id="26" name="Oval 25"/>
          <p:cNvSpPr/>
          <p:nvPr/>
        </p:nvSpPr>
        <p:spPr>
          <a:xfrm>
            <a:off x="8138159" y="3931920"/>
            <a:ext cx="237744" cy="237744"/>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5</a:t>
            </a:r>
          </a:p>
        </p:txBody>
      </p:sp>
      <p:sp>
        <p:nvSpPr>
          <p:cNvPr id="27" name="TextBox 26"/>
          <p:cNvSpPr txBox="1"/>
          <p:nvPr/>
        </p:nvSpPr>
        <p:spPr>
          <a:xfrm>
            <a:off x="8503920" y="3931920"/>
            <a:ext cx="2651760" cy="274320"/>
          </a:xfrm>
          <a:prstGeom prst="rect">
            <a:avLst/>
          </a:prstGeom>
          <a:noFill/>
        </p:spPr>
        <p:txBody>
          <a:bodyPr wrap="square" lIns="0" rIns="0" tIns="0" bIns="0" anchor="t">
            <a:spAutoFit/>
          </a:bodyPr>
          <a:lstStyle/>
          <a:p>
            <a:pPr algn="l">
              <a:lnSpc>
                <a:spcPct val="100000"/>
              </a:lnSpc>
            </a:pPr>
            <a:r>
              <a:rPr sz="1250" b="0" i="0">
                <a:solidFill>
                  <a:srgbClr val="151515"/>
                </a:solidFill>
                <a:latin typeface="Red Hat Text"/>
              </a:rPr>
              <a:t>Manual PR + deploy</a:t>
            </a:r>
          </a:p>
        </p:txBody>
      </p:sp>
      <p:sp>
        <p:nvSpPr>
          <p:cNvPr id="28" name="Oval 27"/>
          <p:cNvSpPr/>
          <p:nvPr/>
        </p:nvSpPr>
        <p:spPr>
          <a:xfrm>
            <a:off x="8138159" y="4325112"/>
            <a:ext cx="237744" cy="237744"/>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6</a:t>
            </a:r>
          </a:p>
        </p:txBody>
      </p:sp>
      <p:sp>
        <p:nvSpPr>
          <p:cNvPr id="29" name="TextBox 28"/>
          <p:cNvSpPr txBox="1"/>
          <p:nvPr/>
        </p:nvSpPr>
        <p:spPr>
          <a:xfrm>
            <a:off x="8503920" y="4325112"/>
            <a:ext cx="2651760" cy="274320"/>
          </a:xfrm>
          <a:prstGeom prst="rect">
            <a:avLst/>
          </a:prstGeom>
          <a:noFill/>
        </p:spPr>
        <p:txBody>
          <a:bodyPr wrap="square" lIns="0" rIns="0" tIns="0" bIns="0" anchor="t">
            <a:spAutoFit/>
          </a:bodyPr>
          <a:lstStyle/>
          <a:p>
            <a:pPr algn="l">
              <a:lnSpc>
                <a:spcPct val="100000"/>
              </a:lnSpc>
            </a:pPr>
            <a:r>
              <a:rPr sz="1250" b="0" i="0">
                <a:solidFill>
                  <a:srgbClr val="151515"/>
                </a:solidFill>
                <a:latin typeface="Red Hat Text"/>
              </a:rPr>
              <a:t>Hope nothing broke</a:t>
            </a:r>
          </a:p>
        </p:txBody>
      </p:sp>
      <p:sp>
        <p:nvSpPr>
          <p:cNvPr id="30" name="TextBox 29"/>
          <p:cNvSpPr txBox="1"/>
          <p:nvPr/>
        </p:nvSpPr>
        <p:spPr>
          <a:xfrm>
            <a:off x="8028431" y="4828032"/>
            <a:ext cx="3108960" cy="274320"/>
          </a:xfrm>
          <a:prstGeom prst="rect">
            <a:avLst/>
          </a:prstGeom>
          <a:noFill/>
        </p:spPr>
        <p:txBody>
          <a:bodyPr wrap="square" lIns="0" rIns="0" tIns="0" bIns="0" anchor="t">
            <a:spAutoFit/>
          </a:bodyPr>
          <a:lstStyle/>
          <a:p>
            <a:pPr algn="l">
              <a:lnSpc>
                <a:spcPct val="100000"/>
              </a:lnSpc>
            </a:pPr>
            <a:r>
              <a:rPr sz="1300" b="1" i="0">
                <a:solidFill>
                  <a:srgbClr val="EE0000"/>
                </a:solidFill>
                <a:latin typeface="Red Hat Display"/>
              </a:rPr>
              <a:t>Elapsed: days to weeks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3</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Start from the fix, not the flaw</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Move the trigger, and everything downstream changes</a:t>
            </a:r>
          </a:p>
        </p:txBody>
      </p:sp>
      <p:sp>
        <p:nvSpPr>
          <p:cNvPr id="8" name="Rounded Rectangle 7"/>
          <p:cNvSpPr/>
          <p:nvPr/>
        </p:nvSpPr>
        <p:spPr>
          <a:xfrm>
            <a:off x="1051560" y="1572768"/>
            <a:ext cx="4754880" cy="402336"/>
          </a:xfrm>
          <a:prstGeom prst="roundRect">
            <a:avLst>
              <a:gd name="adj" fmla="val 6000"/>
            </a:avLst>
          </a:prstGeom>
          <a:solidFill>
            <a:srgbClr val="6A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Red Hat Display"/>
              </a:rPr>
              <a:t>Reactive (typical)</a:t>
            </a:r>
          </a:p>
        </p:txBody>
      </p:sp>
      <p:sp>
        <p:nvSpPr>
          <p:cNvPr id="9" name="Rounded Rectangle 8"/>
          <p:cNvSpPr/>
          <p:nvPr/>
        </p:nvSpPr>
        <p:spPr>
          <a:xfrm>
            <a:off x="6400800" y="1572768"/>
            <a:ext cx="4754880" cy="402336"/>
          </a:xfrm>
          <a:prstGeom prst="roundRect">
            <a:avLst>
              <a:gd name="adj" fmla="val 6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50" b="1">
                <a:solidFill>
                  <a:srgbClr val="FFFFFF"/>
                </a:solidFill>
                <a:latin typeface="Red Hat Display"/>
              </a:rPr>
              <a:t>Proactive (this lab)</a:t>
            </a:r>
          </a:p>
        </p:txBody>
      </p:sp>
      <p:sp>
        <p:nvSpPr>
          <p:cNvPr id="10" name="Rounded Rectangle 9"/>
          <p:cNvSpPr/>
          <p:nvPr/>
        </p:nvSpPr>
        <p:spPr>
          <a:xfrm>
            <a:off x="1051560" y="2139696"/>
            <a:ext cx="4754880" cy="603504"/>
          </a:xfrm>
          <a:prstGeom prst="roundRect">
            <a:avLst>
              <a:gd name="adj" fmla="val 6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Trigger: a scanner finds a CVE</a:t>
            </a:r>
          </a:p>
        </p:txBody>
      </p:sp>
      <p:sp>
        <p:nvSpPr>
          <p:cNvPr id="11" name="Rounded Rectangle 10"/>
          <p:cNvSpPr/>
          <p:nvPr/>
        </p:nvSpPr>
        <p:spPr>
          <a:xfrm>
            <a:off x="6400800" y="2139696"/>
            <a:ext cx="4754880" cy="60350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Trigger: Lightwell publishes a remediated package</a:t>
            </a:r>
          </a:p>
        </p:txBody>
      </p:sp>
      <p:cxnSp>
        <p:nvCxnSpPr>
          <p:cNvPr id="12" name="Connector 11"/>
          <p:cNvCxnSpPr/>
          <p:nvPr/>
        </p:nvCxnSpPr>
        <p:spPr>
          <a:xfrm>
            <a:off x="5879592" y="2441448"/>
            <a:ext cx="448056" cy="0"/>
          </a:xfrm>
          <a:prstGeom prst="line">
            <a:avLst/>
          </a:prstGeom>
          <a:ln w="19050">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51560" y="2852928"/>
            <a:ext cx="4754880" cy="603504"/>
          </a:xfrm>
          <a:prstGeom prst="roundRect">
            <a:avLst>
              <a:gd name="adj" fmla="val 6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“We have a problem”</a:t>
            </a:r>
          </a:p>
        </p:txBody>
      </p:sp>
      <p:sp>
        <p:nvSpPr>
          <p:cNvPr id="14" name="Rounded Rectangle 13"/>
          <p:cNvSpPr/>
          <p:nvPr/>
        </p:nvSpPr>
        <p:spPr>
          <a:xfrm>
            <a:off x="6400800" y="2852928"/>
            <a:ext cx="4754880" cy="60350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“We have a solution — go apply it”</a:t>
            </a:r>
          </a:p>
        </p:txBody>
      </p:sp>
      <p:cxnSp>
        <p:nvCxnSpPr>
          <p:cNvPr id="15" name="Connector 14"/>
          <p:cNvCxnSpPr/>
          <p:nvPr/>
        </p:nvCxnSpPr>
        <p:spPr>
          <a:xfrm>
            <a:off x="5879592" y="3154680"/>
            <a:ext cx="448056" cy="0"/>
          </a:xfrm>
          <a:prstGeom prst="line">
            <a:avLst/>
          </a:prstGeom>
          <a:ln w="19050">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51560" y="3566160"/>
            <a:ext cx="4754880" cy="603504"/>
          </a:xfrm>
          <a:prstGeom prst="roundRect">
            <a:avLst>
              <a:gd name="adj" fmla="val 6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Hunt for affected apps</a:t>
            </a:r>
          </a:p>
        </p:txBody>
      </p:sp>
      <p:sp>
        <p:nvSpPr>
          <p:cNvPr id="17" name="Rounded Rectangle 16"/>
          <p:cNvSpPr/>
          <p:nvPr/>
        </p:nvSpPr>
        <p:spPr>
          <a:xfrm>
            <a:off x="6400800" y="3566160"/>
            <a:ext cx="4754880" cy="60350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Concert already knows</a:t>
            </a:r>
          </a:p>
        </p:txBody>
      </p:sp>
      <p:cxnSp>
        <p:nvCxnSpPr>
          <p:cNvPr id="18" name="Connector 17"/>
          <p:cNvCxnSpPr/>
          <p:nvPr/>
        </p:nvCxnSpPr>
        <p:spPr>
          <a:xfrm>
            <a:off x="5879592" y="3867912"/>
            <a:ext cx="448056" cy="0"/>
          </a:xfrm>
          <a:prstGeom prst="line">
            <a:avLst/>
          </a:prstGeom>
          <a:ln w="19050">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51560" y="4279392"/>
            <a:ext cx="4754880" cy="603504"/>
          </a:xfrm>
          <a:prstGeom prst="roundRect">
            <a:avLst>
              <a:gd name="adj" fmla="val 6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Manual PR, manual deploy</a:t>
            </a:r>
          </a:p>
        </p:txBody>
      </p:sp>
      <p:sp>
        <p:nvSpPr>
          <p:cNvPr id="20" name="Rounded Rectangle 19"/>
          <p:cNvSpPr/>
          <p:nvPr/>
        </p:nvSpPr>
        <p:spPr>
          <a:xfrm>
            <a:off x="6400800" y="4279392"/>
            <a:ext cx="4754880" cy="60350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a:lstStyle/>
          <a:p>
            <a:r>
              <a:rPr sz="1250">
                <a:solidFill>
                  <a:srgbClr val="151515"/>
                </a:solidFill>
                <a:latin typeface="Red Hat Text"/>
              </a:rPr>
              <a:t>Tekton builds, ArgoCD deploys</a:t>
            </a:r>
          </a:p>
        </p:txBody>
      </p:sp>
      <p:cxnSp>
        <p:nvCxnSpPr>
          <p:cNvPr id="21" name="Connector 20"/>
          <p:cNvCxnSpPr/>
          <p:nvPr/>
        </p:nvCxnSpPr>
        <p:spPr>
          <a:xfrm>
            <a:off x="5879592" y="4581144"/>
            <a:ext cx="448056" cy="0"/>
          </a:xfrm>
          <a:prstGeom prst="line">
            <a:avLst/>
          </a:prstGeom>
          <a:ln w="19050">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51560" y="5230368"/>
            <a:ext cx="10104120" cy="822960"/>
          </a:xfrm>
          <a:prstGeom prst="rect">
            <a:avLst/>
          </a:prstGeom>
          <a:noFill/>
        </p:spPr>
        <p:txBody>
          <a:bodyPr wrap="square" lIns="0" rIns="0" tIns="0" bIns="0" anchor="t">
            <a:spAutoFit/>
          </a:bodyPr>
          <a:lstStyle/>
          <a:p>
            <a:pPr algn="ctr">
              <a:lnSpc>
                <a:spcPct val="120000"/>
              </a:lnSpc>
            </a:pPr>
            <a:r>
              <a:rPr sz="1400" b="0" i="0">
                <a:solidFill>
                  <a:srgbClr val="151515"/>
                </a:solidFill>
                <a:latin typeface="Red Hat Text"/>
              </a:rPr>
              <a:t>Red Hat Lightwell publishes a hardened, remediated build of a package into Artifactory. That publish event is the trigger — the fix arrives before anyone files a ticket.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4</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The cast: who does what</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Concert answers “who is affected?” — AO owns the decisions</a:t>
            </a:r>
          </a:p>
        </p:txBody>
      </p:sp>
      <p:sp>
        <p:nvSpPr>
          <p:cNvPr id="8" name="Pentagon 7"/>
          <p:cNvSpPr/>
          <p:nvPr/>
        </p:nvSpPr>
        <p:spPr>
          <a:xfrm>
            <a:off x="1051560" y="1572768"/>
            <a:ext cx="3200400" cy="530352"/>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300" b="1">
                <a:solidFill>
                  <a:srgbClr val="151515"/>
                </a:solidFill>
                <a:latin typeface="Red Hat Text"/>
              </a:rPr>
              <a:t>Artifactory</a:t>
            </a:r>
          </a:p>
        </p:txBody>
      </p:sp>
      <p:sp>
        <p:nvSpPr>
          <p:cNvPr id="9" name="TextBox 8"/>
          <p:cNvSpPr txBox="1"/>
          <p:nvPr/>
        </p:nvSpPr>
        <p:spPr>
          <a:xfrm>
            <a:off x="4617720" y="1691640"/>
            <a:ext cx="6583680" cy="365760"/>
          </a:xfrm>
          <a:prstGeom prst="rect">
            <a:avLst/>
          </a:prstGeom>
          <a:noFill/>
        </p:spPr>
        <p:txBody>
          <a:bodyPr wrap="square" lIns="0" rIns="0" tIns="0" bIns="0" anchor="t">
            <a:spAutoFit/>
          </a:bodyPr>
          <a:lstStyle/>
          <a:p>
            <a:pPr algn="l">
              <a:lnSpc>
                <a:spcPct val="100000"/>
              </a:lnSpc>
            </a:pPr>
            <a:r>
              <a:rPr sz="1300" b="0" i="0">
                <a:solidFill>
                  <a:srgbClr val="151515"/>
                </a:solidFill>
                <a:latin typeface="Red Hat Text"/>
              </a:rPr>
              <a:t>Package store — emits the webhook when a Lightwell package lands</a:t>
            </a:r>
          </a:p>
        </p:txBody>
      </p:sp>
      <p:sp>
        <p:nvSpPr>
          <p:cNvPr id="10" name="Pentagon 9"/>
          <p:cNvSpPr/>
          <p:nvPr/>
        </p:nvSpPr>
        <p:spPr>
          <a:xfrm>
            <a:off x="1051560" y="2194560"/>
            <a:ext cx="3200400" cy="530352"/>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300" b="1">
                <a:solidFill>
                  <a:srgbClr val="151515"/>
                </a:solidFill>
                <a:latin typeface="Red Hat Text"/>
              </a:rPr>
              <a:t>Event-Driven Ansible</a:t>
            </a:r>
          </a:p>
        </p:txBody>
      </p:sp>
      <p:sp>
        <p:nvSpPr>
          <p:cNvPr id="11" name="TextBox 10"/>
          <p:cNvSpPr txBox="1"/>
          <p:nvPr/>
        </p:nvSpPr>
        <p:spPr>
          <a:xfrm>
            <a:off x="4617720" y="2313432"/>
            <a:ext cx="6583680" cy="365760"/>
          </a:xfrm>
          <a:prstGeom prst="rect">
            <a:avLst/>
          </a:prstGeom>
          <a:noFill/>
        </p:spPr>
        <p:txBody>
          <a:bodyPr wrap="square" lIns="0" rIns="0" tIns="0" bIns="0" anchor="t">
            <a:spAutoFit/>
          </a:bodyPr>
          <a:lstStyle/>
          <a:p>
            <a:pPr algn="l">
              <a:lnSpc>
                <a:spcPct val="100000"/>
              </a:lnSpc>
            </a:pPr>
            <a:r>
              <a:rPr sz="1300" b="0" i="0">
                <a:solidFill>
                  <a:srgbClr val="151515"/>
                </a:solidFill>
                <a:latin typeface="Red Hat Text"/>
              </a:rPr>
              <a:t>Always-on listener — turns the event into a workflow</a:t>
            </a:r>
          </a:p>
        </p:txBody>
      </p:sp>
      <p:sp>
        <p:nvSpPr>
          <p:cNvPr id="12" name="Pentagon 11"/>
          <p:cNvSpPr/>
          <p:nvPr/>
        </p:nvSpPr>
        <p:spPr>
          <a:xfrm>
            <a:off x="1051560" y="2816352"/>
            <a:ext cx="3200400" cy="530352"/>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300" b="1">
                <a:solidFill>
                  <a:srgbClr val="151515"/>
                </a:solidFill>
                <a:latin typeface="Red Hat Text"/>
              </a:rPr>
              <a:t>IBM Concert</a:t>
            </a:r>
          </a:p>
        </p:txBody>
      </p:sp>
      <p:sp>
        <p:nvSpPr>
          <p:cNvPr id="13" name="TextBox 12"/>
          <p:cNvSpPr txBox="1"/>
          <p:nvPr/>
        </p:nvSpPr>
        <p:spPr>
          <a:xfrm>
            <a:off x="4617720" y="2935224"/>
            <a:ext cx="6583680" cy="365760"/>
          </a:xfrm>
          <a:prstGeom prst="rect">
            <a:avLst/>
          </a:prstGeom>
          <a:noFill/>
        </p:spPr>
        <p:txBody>
          <a:bodyPr wrap="square" lIns="0" rIns="0" tIns="0" bIns="0" anchor="t">
            <a:spAutoFit/>
          </a:bodyPr>
          <a:lstStyle/>
          <a:p>
            <a:pPr algn="l">
              <a:lnSpc>
                <a:spcPct val="100000"/>
              </a:lnSpc>
            </a:pPr>
            <a:r>
              <a:rPr sz="1300" b="0" i="0">
                <a:solidFill>
                  <a:srgbClr val="151515"/>
                </a:solidFill>
                <a:latin typeface="Red Hat Text"/>
              </a:rPr>
              <a:t>Pre-indexed SBOM inventory + Arena View dependency topology</a:t>
            </a:r>
          </a:p>
        </p:txBody>
      </p:sp>
      <p:sp>
        <p:nvSpPr>
          <p:cNvPr id="14" name="Pentagon 13"/>
          <p:cNvSpPr/>
          <p:nvPr/>
        </p:nvSpPr>
        <p:spPr>
          <a:xfrm>
            <a:off x="1051560" y="3438144"/>
            <a:ext cx="3200400" cy="530352"/>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300" b="1">
                <a:solidFill>
                  <a:srgbClr val="151515"/>
                </a:solidFill>
                <a:latin typeface="Red Hat Text"/>
              </a:rPr>
              <a:t>Automation Orchestrator</a:t>
            </a:r>
          </a:p>
        </p:txBody>
      </p:sp>
      <p:sp>
        <p:nvSpPr>
          <p:cNvPr id="15" name="TextBox 14"/>
          <p:cNvSpPr txBox="1"/>
          <p:nvPr/>
        </p:nvSpPr>
        <p:spPr>
          <a:xfrm>
            <a:off x="4617720" y="3557016"/>
            <a:ext cx="6583680" cy="365760"/>
          </a:xfrm>
          <a:prstGeom prst="rect">
            <a:avLst/>
          </a:prstGeom>
          <a:noFill/>
        </p:spPr>
        <p:txBody>
          <a:bodyPr wrap="square" lIns="0" rIns="0" tIns="0" bIns="0" anchor="t">
            <a:spAutoFit/>
          </a:bodyPr>
          <a:lstStyle/>
          <a:p>
            <a:pPr algn="l">
              <a:lnSpc>
                <a:spcPct val="100000"/>
              </a:lnSpc>
            </a:pPr>
            <a:r>
              <a:rPr sz="1300" b="0" i="0">
                <a:solidFill>
                  <a:srgbClr val="151515"/>
                </a:solidFill>
                <a:latin typeface="Red Hat Text"/>
              </a:rPr>
              <a:t>The brain — routing decisions, approval gates, audit trail</a:t>
            </a:r>
          </a:p>
        </p:txBody>
      </p:sp>
      <p:sp>
        <p:nvSpPr>
          <p:cNvPr id="16" name="Pentagon 15"/>
          <p:cNvSpPr/>
          <p:nvPr/>
        </p:nvSpPr>
        <p:spPr>
          <a:xfrm>
            <a:off x="1051560" y="4059936"/>
            <a:ext cx="3200400" cy="530352"/>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300" b="1">
                <a:solidFill>
                  <a:srgbClr val="151515"/>
                </a:solidFill>
                <a:latin typeface="Red Hat Text"/>
              </a:rPr>
              <a:t>AAP</a:t>
            </a:r>
          </a:p>
        </p:txBody>
      </p:sp>
      <p:sp>
        <p:nvSpPr>
          <p:cNvPr id="17" name="TextBox 16"/>
          <p:cNvSpPr txBox="1"/>
          <p:nvPr/>
        </p:nvSpPr>
        <p:spPr>
          <a:xfrm>
            <a:off x="4617720" y="4178808"/>
            <a:ext cx="6583680" cy="365760"/>
          </a:xfrm>
          <a:prstGeom prst="rect">
            <a:avLst/>
          </a:prstGeom>
          <a:noFill/>
        </p:spPr>
        <p:txBody>
          <a:bodyPr wrap="square" lIns="0" rIns="0" tIns="0" bIns="0" anchor="t">
            <a:spAutoFit/>
          </a:bodyPr>
          <a:lstStyle/>
          <a:p>
            <a:pPr algn="l">
              <a:lnSpc>
                <a:spcPct val="100000"/>
              </a:lnSpc>
            </a:pPr>
            <a:r>
              <a:rPr sz="1300" b="0" i="0">
                <a:solidFill>
                  <a:srgbClr val="151515"/>
                </a:solidFill>
                <a:latin typeface="Red Hat Text"/>
              </a:rPr>
              <a:t>The hands — playbook execution</a:t>
            </a:r>
          </a:p>
        </p:txBody>
      </p:sp>
      <p:sp>
        <p:nvSpPr>
          <p:cNvPr id="18" name="Pentagon 17"/>
          <p:cNvSpPr/>
          <p:nvPr/>
        </p:nvSpPr>
        <p:spPr>
          <a:xfrm>
            <a:off x="1051560" y="4681728"/>
            <a:ext cx="3200400" cy="530352"/>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300" b="1">
                <a:solidFill>
                  <a:srgbClr val="151515"/>
                </a:solidFill>
                <a:latin typeface="Red Hat Text"/>
              </a:rPr>
              <a:t>Tekton</a:t>
            </a:r>
          </a:p>
        </p:txBody>
      </p:sp>
      <p:sp>
        <p:nvSpPr>
          <p:cNvPr id="19" name="TextBox 18"/>
          <p:cNvSpPr txBox="1"/>
          <p:nvPr/>
        </p:nvSpPr>
        <p:spPr>
          <a:xfrm>
            <a:off x="4617720" y="4800600"/>
            <a:ext cx="6583680" cy="365760"/>
          </a:xfrm>
          <a:prstGeom prst="rect">
            <a:avLst/>
          </a:prstGeom>
          <a:noFill/>
        </p:spPr>
        <p:txBody>
          <a:bodyPr wrap="square" lIns="0" rIns="0" tIns="0" bIns="0" anchor="t">
            <a:spAutoFit/>
          </a:bodyPr>
          <a:lstStyle/>
          <a:p>
            <a:pPr algn="l">
              <a:lnSpc>
                <a:spcPct val="100000"/>
              </a:lnSpc>
            </a:pPr>
            <a:r>
              <a:rPr sz="1300" b="0" i="0">
                <a:solidFill>
                  <a:srgbClr val="151515"/>
                </a:solidFill>
                <a:latin typeface="Red Hat Text"/>
              </a:rPr>
              <a:t>CI — build, test, image, GitOps manifest bump</a:t>
            </a:r>
          </a:p>
        </p:txBody>
      </p:sp>
      <p:sp>
        <p:nvSpPr>
          <p:cNvPr id="20" name="Pentagon 19"/>
          <p:cNvSpPr/>
          <p:nvPr/>
        </p:nvSpPr>
        <p:spPr>
          <a:xfrm>
            <a:off x="1051560" y="5303520"/>
            <a:ext cx="3200400" cy="530352"/>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300" b="1">
                <a:solidFill>
                  <a:srgbClr val="151515"/>
                </a:solidFill>
                <a:latin typeface="Red Hat Text"/>
              </a:rPr>
              <a:t>ArgoCD</a:t>
            </a:r>
          </a:p>
        </p:txBody>
      </p:sp>
      <p:sp>
        <p:nvSpPr>
          <p:cNvPr id="21" name="TextBox 20"/>
          <p:cNvSpPr txBox="1"/>
          <p:nvPr/>
        </p:nvSpPr>
        <p:spPr>
          <a:xfrm>
            <a:off x="4617720" y="5422392"/>
            <a:ext cx="6583680" cy="365760"/>
          </a:xfrm>
          <a:prstGeom prst="rect">
            <a:avLst/>
          </a:prstGeom>
          <a:noFill/>
        </p:spPr>
        <p:txBody>
          <a:bodyPr wrap="square" lIns="0" rIns="0" tIns="0" bIns="0" anchor="t">
            <a:spAutoFit/>
          </a:bodyPr>
          <a:lstStyle/>
          <a:p>
            <a:pPr algn="l">
              <a:lnSpc>
                <a:spcPct val="100000"/>
              </a:lnSpc>
            </a:pPr>
            <a:r>
              <a:rPr sz="1300" b="0" i="0">
                <a:solidFill>
                  <a:srgbClr val="151515"/>
                </a:solidFill>
                <a:latin typeface="Red Hat Text"/>
              </a:rPr>
              <a:t>CD — GitOps sync to OpenShift, drift detection, rollback</a:t>
            </a:r>
          </a:p>
        </p:txBody>
      </p:sp>
      <p:sp>
        <p:nvSpPr>
          <p:cNvPr id="22" name="TextBox 21"/>
          <p:cNvSpPr txBox="1"/>
          <p:nvPr/>
        </p:nvSpPr>
        <p:spPr>
          <a:xfrm>
            <a:off x="1051560" y="6053328"/>
            <a:ext cx="10104120" cy="320040"/>
          </a:xfrm>
          <a:prstGeom prst="rect">
            <a:avLst/>
          </a:prstGeom>
          <a:noFill/>
        </p:spPr>
        <p:txBody>
          <a:bodyPr wrap="square" lIns="0" rIns="0" tIns="0" bIns="0" anchor="t">
            <a:spAutoFit/>
          </a:bodyPr>
          <a:lstStyle/>
          <a:p>
            <a:pPr algn="ctr">
              <a:lnSpc>
                <a:spcPct val="100000"/>
              </a:lnSpc>
            </a:pPr>
            <a:r>
              <a:rPr sz="1250" b="0" i="1">
                <a:solidFill>
                  <a:srgbClr val="5A5A5A"/>
                </a:solidFill>
                <a:latin typeface="Red Hat Text"/>
              </a:rPr>
              <a:t>Note what Concert is not doing: it is not orchestrating.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5</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Lab architecture</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From package publish to validated production deploy</a:t>
            </a:r>
          </a:p>
        </p:txBody>
      </p:sp>
      <p:sp>
        <p:nvSpPr>
          <p:cNvPr id="8" name="Rounded Rectangle 7"/>
          <p:cNvSpPr/>
          <p:nvPr/>
        </p:nvSpPr>
        <p:spPr>
          <a:xfrm>
            <a:off x="713232" y="2212848"/>
            <a:ext cx="11173968" cy="1408175"/>
          </a:xfrm>
          <a:prstGeom prst="roundRect">
            <a:avLst>
              <a:gd name="adj" fmla="val 4000"/>
            </a:avLst>
          </a:prstGeom>
          <a:solidFill>
            <a:srgbClr val="FAFAFA"/>
          </a:solidFill>
          <a:ln w="12700">
            <a:solidFill>
              <a:srgbClr val="BBBBBB"/>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13232" y="2212848"/>
            <a:ext cx="64008" cy="1408175"/>
          </a:xfrm>
          <a:prstGeom prst="roundRect">
            <a:avLst>
              <a:gd name="adj" fmla="val 20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9536" y="2267712"/>
            <a:ext cx="768096" cy="1298447"/>
          </a:xfrm>
          <a:prstGeom prst="rect">
            <a:avLst/>
          </a:prstGeom>
          <a:noFill/>
        </p:spPr>
        <p:txBody>
          <a:bodyPr wrap="square" lIns="0" rIns="0" tIns="0" bIns="0" anchor="ctr">
            <a:spAutoFit/>
          </a:bodyPr>
          <a:lstStyle/>
          <a:p>
            <a:pPr algn="l">
              <a:lnSpc>
                <a:spcPct val="90000"/>
              </a:lnSpc>
            </a:pPr>
            <a:r>
              <a:rPr sz="950" b="1" i="0">
                <a:solidFill>
                  <a:srgbClr val="EE0000"/>
                </a:solidFill>
                <a:latin typeface="Red Hat Display"/>
              </a:rPr>
              <a:t>Ansible</a:t>
            </a:r>
          </a:p>
          <a:p>
            <a:pPr algn="l">
              <a:lnSpc>
                <a:spcPct val="90000"/>
              </a:lnSpc>
            </a:pPr>
            <a:r>
              <a:rPr sz="950" b="1" i="0">
                <a:solidFill>
                  <a:srgbClr val="EE0000"/>
                </a:solidFill>
                <a:latin typeface="Red Hat Display"/>
              </a:rPr>
              <a:t>Automation</a:t>
            </a:r>
          </a:p>
          <a:p>
            <a:pPr algn="l">
              <a:lnSpc>
                <a:spcPct val="90000"/>
              </a:lnSpc>
            </a:pPr>
            <a:r>
              <a:rPr sz="950" b="1" i="0">
                <a:solidFill>
                  <a:srgbClr val="EE0000"/>
                </a:solidFill>
                <a:latin typeface="Red Hat Display"/>
              </a:rPr>
              <a:t>Platform</a:t>
            </a:r>
          </a:p>
        </p:txBody>
      </p:sp>
      <p:sp>
        <p:nvSpPr>
          <p:cNvPr id="11" name="Rounded Rectangle 10"/>
          <p:cNvSpPr/>
          <p:nvPr/>
        </p:nvSpPr>
        <p:spPr>
          <a:xfrm>
            <a:off x="713232" y="3950207"/>
            <a:ext cx="11173968" cy="1408175"/>
          </a:xfrm>
          <a:prstGeom prst="roundRect">
            <a:avLst>
              <a:gd name="adj" fmla="val 4000"/>
            </a:avLst>
          </a:prstGeom>
          <a:solidFill>
            <a:srgbClr val="FAFAFA"/>
          </a:solidFill>
          <a:ln w="12700">
            <a:solidFill>
              <a:srgbClr val="BBBBBB"/>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713232" y="3950207"/>
            <a:ext cx="64008" cy="1408175"/>
          </a:xfrm>
          <a:prstGeom prst="roundRect">
            <a:avLst>
              <a:gd name="adj" fmla="val 20000"/>
            </a:avLst>
          </a:prstGeom>
          <a:solidFill>
            <a:srgbClr val="211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9536" y="4005071"/>
            <a:ext cx="768096" cy="1298447"/>
          </a:xfrm>
          <a:prstGeom prst="rect">
            <a:avLst/>
          </a:prstGeom>
          <a:noFill/>
        </p:spPr>
        <p:txBody>
          <a:bodyPr wrap="square" lIns="0" rIns="0" tIns="0" bIns="0" anchor="ctr">
            <a:spAutoFit/>
          </a:bodyPr>
          <a:lstStyle/>
          <a:p>
            <a:pPr algn="l">
              <a:lnSpc>
                <a:spcPct val="90000"/>
              </a:lnSpc>
            </a:pPr>
            <a:r>
              <a:rPr sz="950" b="1" i="0">
                <a:solidFill>
                  <a:srgbClr val="21134D"/>
                </a:solidFill>
                <a:latin typeface="Red Hat Display"/>
              </a:rPr>
              <a:t>IBM</a:t>
            </a:r>
          </a:p>
          <a:p>
            <a:pPr algn="l">
              <a:lnSpc>
                <a:spcPct val="90000"/>
              </a:lnSpc>
            </a:pPr>
            <a:r>
              <a:rPr sz="950" b="1" i="0">
                <a:solidFill>
                  <a:srgbClr val="21134D"/>
                </a:solidFill>
                <a:latin typeface="Red Hat Display"/>
              </a:rPr>
              <a:t>Concert</a:t>
            </a:r>
          </a:p>
        </p:txBody>
      </p:sp>
      <p:sp>
        <p:nvSpPr>
          <p:cNvPr id="14" name="TextBox 13"/>
          <p:cNvSpPr txBox="1"/>
          <p:nvPr/>
        </p:nvSpPr>
        <p:spPr>
          <a:xfrm>
            <a:off x="1645920" y="1444752"/>
            <a:ext cx="1298448" cy="457200"/>
          </a:xfrm>
          <a:prstGeom prst="rect">
            <a:avLst/>
          </a:prstGeom>
          <a:noFill/>
        </p:spPr>
        <p:txBody>
          <a:bodyPr wrap="square" lIns="0" rIns="0" tIns="0" bIns="0" anchor="t">
            <a:spAutoFit/>
          </a:bodyPr>
          <a:lstStyle/>
          <a:p>
            <a:pPr algn="ctr">
              <a:lnSpc>
                <a:spcPct val="90000"/>
              </a:lnSpc>
            </a:pPr>
            <a:r>
              <a:rPr sz="1050" b="1" i="0">
                <a:solidFill>
                  <a:srgbClr val="151515"/>
                </a:solidFill>
                <a:latin typeface="Red Hat Text"/>
              </a:rPr>
              <a:t>Package publish</a:t>
            </a:r>
          </a:p>
        </p:txBody>
      </p:sp>
      <p:sp>
        <p:nvSpPr>
          <p:cNvPr id="15" name="Oval 14"/>
          <p:cNvSpPr/>
          <p:nvPr/>
        </p:nvSpPr>
        <p:spPr>
          <a:xfrm>
            <a:off x="2139696" y="1837944"/>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1</a:t>
            </a:r>
          </a:p>
        </p:txBody>
      </p:sp>
      <p:sp>
        <p:nvSpPr>
          <p:cNvPr id="16" name="TextBox 15"/>
          <p:cNvSpPr txBox="1"/>
          <p:nvPr/>
        </p:nvSpPr>
        <p:spPr>
          <a:xfrm>
            <a:off x="3136392" y="1444752"/>
            <a:ext cx="1298448" cy="457200"/>
          </a:xfrm>
          <a:prstGeom prst="rect">
            <a:avLst/>
          </a:prstGeom>
          <a:noFill/>
        </p:spPr>
        <p:txBody>
          <a:bodyPr wrap="square" lIns="0" rIns="0" tIns="0" bIns="0" anchor="t">
            <a:spAutoFit/>
          </a:bodyPr>
          <a:lstStyle/>
          <a:p>
            <a:pPr algn="ctr">
              <a:lnSpc>
                <a:spcPct val="90000"/>
              </a:lnSpc>
            </a:pPr>
            <a:r>
              <a:rPr sz="1050" b="1" i="0">
                <a:solidFill>
                  <a:srgbClr val="151515"/>
                </a:solidFill>
                <a:latin typeface="Red Hat Text"/>
              </a:rPr>
              <a:t>Event detection</a:t>
            </a:r>
          </a:p>
        </p:txBody>
      </p:sp>
      <p:sp>
        <p:nvSpPr>
          <p:cNvPr id="17" name="Oval 16"/>
          <p:cNvSpPr/>
          <p:nvPr/>
        </p:nvSpPr>
        <p:spPr>
          <a:xfrm>
            <a:off x="3630168" y="1837944"/>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2</a:t>
            </a:r>
          </a:p>
        </p:txBody>
      </p:sp>
      <p:sp>
        <p:nvSpPr>
          <p:cNvPr id="18" name="TextBox 17"/>
          <p:cNvSpPr txBox="1"/>
          <p:nvPr/>
        </p:nvSpPr>
        <p:spPr>
          <a:xfrm>
            <a:off x="4626864" y="1444752"/>
            <a:ext cx="1298448" cy="457200"/>
          </a:xfrm>
          <a:prstGeom prst="rect">
            <a:avLst/>
          </a:prstGeom>
          <a:noFill/>
        </p:spPr>
        <p:txBody>
          <a:bodyPr wrap="square" lIns="0" rIns="0" tIns="0" bIns="0" anchor="t">
            <a:spAutoFit/>
          </a:bodyPr>
          <a:lstStyle/>
          <a:p>
            <a:pPr algn="ctr">
              <a:lnSpc>
                <a:spcPct val="90000"/>
              </a:lnSpc>
            </a:pPr>
            <a:r>
              <a:rPr sz="1050" b="1" i="0">
                <a:solidFill>
                  <a:srgbClr val="151515"/>
                </a:solidFill>
                <a:latin typeface="Red Hat Text"/>
              </a:rPr>
              <a:t>Orchestration</a:t>
            </a:r>
          </a:p>
        </p:txBody>
      </p:sp>
      <p:sp>
        <p:nvSpPr>
          <p:cNvPr id="19" name="Oval 18"/>
          <p:cNvSpPr/>
          <p:nvPr/>
        </p:nvSpPr>
        <p:spPr>
          <a:xfrm>
            <a:off x="5120640" y="1837944"/>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3</a:t>
            </a:r>
          </a:p>
        </p:txBody>
      </p:sp>
      <p:sp>
        <p:nvSpPr>
          <p:cNvPr id="20" name="TextBox 19"/>
          <p:cNvSpPr txBox="1"/>
          <p:nvPr/>
        </p:nvSpPr>
        <p:spPr>
          <a:xfrm>
            <a:off x="6117336" y="1444752"/>
            <a:ext cx="1298448" cy="457200"/>
          </a:xfrm>
          <a:prstGeom prst="rect">
            <a:avLst/>
          </a:prstGeom>
          <a:noFill/>
        </p:spPr>
        <p:txBody>
          <a:bodyPr wrap="square" lIns="0" rIns="0" tIns="0" bIns="0" anchor="t">
            <a:spAutoFit/>
          </a:bodyPr>
          <a:lstStyle/>
          <a:p>
            <a:pPr algn="ctr">
              <a:lnSpc>
                <a:spcPct val="90000"/>
              </a:lnSpc>
            </a:pPr>
            <a:r>
              <a:rPr sz="1050" b="1" i="0">
                <a:solidFill>
                  <a:srgbClr val="151515"/>
                </a:solidFill>
                <a:latin typeface="Red Hat Text"/>
              </a:rPr>
              <a:t>Impact analysis</a:t>
            </a:r>
          </a:p>
        </p:txBody>
      </p:sp>
      <p:sp>
        <p:nvSpPr>
          <p:cNvPr id="21" name="Oval 20"/>
          <p:cNvSpPr/>
          <p:nvPr/>
        </p:nvSpPr>
        <p:spPr>
          <a:xfrm>
            <a:off x="6611112" y="1837944"/>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4</a:t>
            </a:r>
          </a:p>
        </p:txBody>
      </p:sp>
      <p:sp>
        <p:nvSpPr>
          <p:cNvPr id="22" name="TextBox 21"/>
          <p:cNvSpPr txBox="1"/>
          <p:nvPr/>
        </p:nvSpPr>
        <p:spPr>
          <a:xfrm>
            <a:off x="7607808" y="1444752"/>
            <a:ext cx="1298448" cy="457200"/>
          </a:xfrm>
          <a:prstGeom prst="rect">
            <a:avLst/>
          </a:prstGeom>
          <a:noFill/>
        </p:spPr>
        <p:txBody>
          <a:bodyPr wrap="square" lIns="0" rIns="0" tIns="0" bIns="0" anchor="t">
            <a:spAutoFit/>
          </a:bodyPr>
          <a:lstStyle/>
          <a:p>
            <a:pPr algn="ctr">
              <a:lnSpc>
                <a:spcPct val="90000"/>
              </a:lnSpc>
            </a:pPr>
            <a:r>
              <a:rPr sz="1050" b="1" i="0">
                <a:solidFill>
                  <a:srgbClr val="151515"/>
                </a:solidFill>
                <a:latin typeface="Red Hat Text"/>
              </a:rPr>
              <a:t>Source update</a:t>
            </a:r>
          </a:p>
        </p:txBody>
      </p:sp>
      <p:sp>
        <p:nvSpPr>
          <p:cNvPr id="23" name="Oval 22"/>
          <p:cNvSpPr/>
          <p:nvPr/>
        </p:nvSpPr>
        <p:spPr>
          <a:xfrm>
            <a:off x="8101584" y="1837944"/>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5</a:t>
            </a:r>
          </a:p>
        </p:txBody>
      </p:sp>
      <p:sp>
        <p:nvSpPr>
          <p:cNvPr id="24" name="TextBox 23"/>
          <p:cNvSpPr txBox="1"/>
          <p:nvPr/>
        </p:nvSpPr>
        <p:spPr>
          <a:xfrm>
            <a:off x="9098280" y="1444752"/>
            <a:ext cx="1298448" cy="457200"/>
          </a:xfrm>
          <a:prstGeom prst="rect">
            <a:avLst/>
          </a:prstGeom>
          <a:noFill/>
        </p:spPr>
        <p:txBody>
          <a:bodyPr wrap="square" lIns="0" rIns="0" tIns="0" bIns="0" anchor="t">
            <a:spAutoFit/>
          </a:bodyPr>
          <a:lstStyle/>
          <a:p>
            <a:pPr algn="ctr">
              <a:lnSpc>
                <a:spcPct val="90000"/>
              </a:lnSpc>
            </a:pPr>
            <a:r>
              <a:rPr sz="1050" b="1" i="0">
                <a:solidFill>
                  <a:srgbClr val="151515"/>
                </a:solidFill>
                <a:latin typeface="Red Hat Text"/>
              </a:rPr>
              <a:t>Build &amp; deploy</a:t>
            </a:r>
          </a:p>
        </p:txBody>
      </p:sp>
      <p:sp>
        <p:nvSpPr>
          <p:cNvPr id="25" name="Oval 24"/>
          <p:cNvSpPr/>
          <p:nvPr/>
        </p:nvSpPr>
        <p:spPr>
          <a:xfrm>
            <a:off x="9592056" y="1837944"/>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6</a:t>
            </a:r>
          </a:p>
        </p:txBody>
      </p:sp>
      <p:sp>
        <p:nvSpPr>
          <p:cNvPr id="26" name="TextBox 25"/>
          <p:cNvSpPr txBox="1"/>
          <p:nvPr/>
        </p:nvSpPr>
        <p:spPr>
          <a:xfrm>
            <a:off x="10588752" y="1444752"/>
            <a:ext cx="1298448" cy="457200"/>
          </a:xfrm>
          <a:prstGeom prst="rect">
            <a:avLst/>
          </a:prstGeom>
          <a:noFill/>
        </p:spPr>
        <p:txBody>
          <a:bodyPr wrap="square" lIns="0" rIns="0" tIns="0" bIns="0" anchor="t">
            <a:spAutoFit/>
          </a:bodyPr>
          <a:lstStyle/>
          <a:p>
            <a:pPr algn="ctr">
              <a:lnSpc>
                <a:spcPct val="90000"/>
              </a:lnSpc>
            </a:pPr>
            <a:r>
              <a:rPr sz="1050" b="1" i="0">
                <a:solidFill>
                  <a:srgbClr val="151515"/>
                </a:solidFill>
                <a:latin typeface="Red Hat Text"/>
              </a:rPr>
              <a:t>Validation</a:t>
            </a:r>
          </a:p>
        </p:txBody>
      </p:sp>
      <p:sp>
        <p:nvSpPr>
          <p:cNvPr id="27" name="Oval 26"/>
          <p:cNvSpPr/>
          <p:nvPr/>
        </p:nvSpPr>
        <p:spPr>
          <a:xfrm>
            <a:off x="11082528" y="1837944"/>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7</a:t>
            </a:r>
          </a:p>
        </p:txBody>
      </p:sp>
      <p:sp>
        <p:nvSpPr>
          <p:cNvPr id="28" name="Rounded Rectangle 27"/>
          <p:cNvSpPr/>
          <p:nvPr/>
        </p:nvSpPr>
        <p:spPr>
          <a:xfrm>
            <a:off x="1645920" y="2395728"/>
            <a:ext cx="1298448" cy="277977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Artifactory</a:t>
            </a:r>
          </a:p>
          <a:p>
            <a:pPr algn="ctr">
              <a:lnSpc>
                <a:spcPct val="95000"/>
              </a:lnSpc>
              <a:spcBef>
                <a:spcPts val="300"/>
              </a:spcBef>
            </a:pPr>
            <a:r>
              <a:rPr sz="850">
                <a:solidFill>
                  <a:srgbClr val="5A5A5A"/>
                </a:solidFill>
                <a:latin typeface="Red Hat Text"/>
              </a:rPr>
              <a:t>lightwell-remediated
repo emits webhook
One publish event,
both lanes react</a:t>
            </a:r>
          </a:p>
        </p:txBody>
      </p:sp>
      <p:sp>
        <p:nvSpPr>
          <p:cNvPr id="29" name="Rounded Rectangle 28"/>
          <p:cNvSpPr/>
          <p:nvPr/>
        </p:nvSpPr>
        <p:spPr>
          <a:xfrm>
            <a:off x="3136392" y="2395728"/>
            <a:ext cx="1298448" cy="1042415"/>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Event-Driven
Ansible</a:t>
            </a:r>
          </a:p>
          <a:p>
            <a:pPr algn="ctr">
              <a:lnSpc>
                <a:spcPct val="95000"/>
              </a:lnSpc>
              <a:spcBef>
                <a:spcPts val="300"/>
              </a:spcBef>
            </a:pPr>
            <a:r>
              <a:rPr sz="850">
                <a:solidFill>
                  <a:srgbClr val="5A5A5A"/>
                </a:solidFill>
                <a:latin typeface="Red Hat Text"/>
              </a:rPr>
              <a:t>Rulebook matches,
fires workflow</a:t>
            </a:r>
          </a:p>
        </p:txBody>
      </p:sp>
      <p:sp>
        <p:nvSpPr>
          <p:cNvPr id="30" name="Rounded Rectangle 29"/>
          <p:cNvSpPr/>
          <p:nvPr/>
        </p:nvSpPr>
        <p:spPr>
          <a:xfrm>
            <a:off x="4626864" y="2395728"/>
            <a:ext cx="1298448" cy="1042415"/>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Automation
Orchestrator</a:t>
            </a:r>
          </a:p>
          <a:p>
            <a:pPr algn="ctr">
              <a:lnSpc>
                <a:spcPct val="95000"/>
              </a:lnSpc>
              <a:spcBef>
                <a:spcPts val="300"/>
              </a:spcBef>
            </a:pPr>
            <a:r>
              <a:rPr sz="850">
                <a:solidFill>
                  <a:srgbClr val="5A5A5A"/>
                </a:solidFill>
                <a:latin typeface="Red Hat Text"/>
              </a:rPr>
              <a:t>Owns routing,
policy, audit</a:t>
            </a:r>
          </a:p>
        </p:txBody>
      </p:sp>
      <p:sp>
        <p:nvSpPr>
          <p:cNvPr id="31" name="Rounded Rectangle 30"/>
          <p:cNvSpPr/>
          <p:nvPr/>
        </p:nvSpPr>
        <p:spPr>
          <a:xfrm>
            <a:off x="6117336" y="2395728"/>
            <a:ext cx="1298448" cy="1042415"/>
          </a:xfrm>
          <a:prstGeom prst="roundRect">
            <a:avLst>
              <a:gd name="adj" fmla="val 6000"/>
            </a:avLst>
          </a:prstGeom>
          <a:solidFill>
            <a:srgbClr val="FFFFFF"/>
          </a:solidFill>
          <a:ln w="15875">
            <a:solidFill>
              <a:srgbClr val="EE00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5A5A5A"/>
                </a:solidFill>
                <a:latin typeface="Red Hat Text"/>
              </a:rPr>
              <a:t>Automation
Orchestrator</a:t>
            </a:r>
          </a:p>
          <a:p>
            <a:pPr algn="ctr">
              <a:lnSpc>
                <a:spcPct val="95000"/>
              </a:lnSpc>
              <a:spcBef>
                <a:spcPts val="300"/>
              </a:spcBef>
            </a:pPr>
            <a:r>
              <a:rPr sz="850">
                <a:solidFill>
                  <a:srgbClr val="5A5A5A"/>
                </a:solidFill>
                <a:latin typeface="Red Hat Text"/>
              </a:rPr>
              <a:t>Could own the query
and the policy gate</a:t>
            </a:r>
          </a:p>
        </p:txBody>
      </p:sp>
      <p:sp>
        <p:nvSpPr>
          <p:cNvPr id="32" name="Rounded Rectangle 31"/>
          <p:cNvSpPr/>
          <p:nvPr/>
        </p:nvSpPr>
        <p:spPr>
          <a:xfrm>
            <a:off x="7607808" y="2395728"/>
            <a:ext cx="1298448" cy="1042415"/>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AAP playbook</a:t>
            </a:r>
          </a:p>
          <a:p>
            <a:pPr algn="ctr">
              <a:lnSpc>
                <a:spcPct val="95000"/>
              </a:lnSpc>
              <a:spcBef>
                <a:spcPts val="300"/>
              </a:spcBef>
            </a:pPr>
            <a:r>
              <a:rPr sz="850">
                <a:solidFill>
                  <a:srgbClr val="5A5A5A"/>
                </a:solidFill>
                <a:latin typeface="Red Hat Text"/>
              </a:rPr>
              <a:t>Bump requirements,
branch, commit, push</a:t>
            </a:r>
          </a:p>
        </p:txBody>
      </p:sp>
      <p:sp>
        <p:nvSpPr>
          <p:cNvPr id="33" name="Rounded Rectangle 32"/>
          <p:cNvSpPr/>
          <p:nvPr/>
        </p:nvSpPr>
        <p:spPr>
          <a:xfrm>
            <a:off x="9098280" y="2395728"/>
            <a:ext cx="1298448" cy="1042415"/>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Tekton + ArgoCD</a:t>
            </a:r>
          </a:p>
          <a:p>
            <a:pPr algn="ctr">
              <a:lnSpc>
                <a:spcPct val="95000"/>
              </a:lnSpc>
              <a:spcBef>
                <a:spcPts val="300"/>
              </a:spcBef>
            </a:pPr>
            <a:r>
              <a:rPr sz="850">
                <a:solidFill>
                  <a:srgbClr val="5A5A5A"/>
                </a:solidFill>
                <a:latin typeface="Red Hat Text"/>
              </a:rPr>
              <a:t>Test, build image,
GitOps sync</a:t>
            </a:r>
          </a:p>
        </p:txBody>
      </p:sp>
      <p:sp>
        <p:nvSpPr>
          <p:cNvPr id="34" name="Rounded Rectangle 33"/>
          <p:cNvSpPr/>
          <p:nvPr/>
        </p:nvSpPr>
        <p:spPr>
          <a:xfrm>
            <a:off x="10588752" y="2395728"/>
            <a:ext cx="1298448" cy="1042415"/>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AAP validation</a:t>
            </a:r>
          </a:p>
          <a:p>
            <a:pPr algn="ctr">
              <a:lnSpc>
                <a:spcPct val="95000"/>
              </a:lnSpc>
              <a:spcBef>
                <a:spcPts val="300"/>
              </a:spcBef>
            </a:pPr>
            <a:r>
              <a:rPr sz="850">
                <a:solidFill>
                  <a:srgbClr val="5A5A5A"/>
                </a:solidFill>
                <a:latin typeface="Red Hat Text"/>
              </a:rPr>
              <a:t>3/3 pods healthy,
/health reports 6.0.2</a:t>
            </a:r>
          </a:p>
        </p:txBody>
      </p:sp>
      <p:sp>
        <p:nvSpPr>
          <p:cNvPr id="35" name="Rounded Rectangle 34"/>
          <p:cNvSpPr/>
          <p:nvPr/>
        </p:nvSpPr>
        <p:spPr>
          <a:xfrm>
            <a:off x="3136392" y="4133087"/>
            <a:ext cx="1298448" cy="1042415"/>
          </a:xfrm>
          <a:prstGeom prst="roundRect">
            <a:avLst>
              <a:gd name="adj" fmla="val 6000"/>
            </a:avLst>
          </a:prstGeom>
          <a:solidFill>
            <a:srgbClr val="FFFFFF"/>
          </a:solidFill>
          <a:ln w="15875">
            <a:solidFill>
              <a:srgbClr val="21134D"/>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5A5A5A"/>
                </a:solidFill>
                <a:latin typeface="Red Hat Text"/>
              </a:rPr>
              <a:t>Concert ingest</a:t>
            </a:r>
          </a:p>
          <a:p>
            <a:pPr algn="ctr">
              <a:lnSpc>
                <a:spcPct val="95000"/>
              </a:lnSpc>
              <a:spcBef>
                <a:spcPts val="300"/>
              </a:spcBef>
            </a:pPr>
            <a:r>
              <a:rPr sz="850">
                <a:solidFill>
                  <a:srgbClr val="5A5A5A"/>
                </a:solidFill>
                <a:latin typeface="Red Hat Text"/>
              </a:rPr>
              <a:t>New Lightwell build
indexed in the SBOM</a:t>
            </a:r>
          </a:p>
        </p:txBody>
      </p:sp>
      <p:sp>
        <p:nvSpPr>
          <p:cNvPr id="36" name="Rounded Rectangle 35"/>
          <p:cNvSpPr/>
          <p:nvPr/>
        </p:nvSpPr>
        <p:spPr>
          <a:xfrm>
            <a:off x="4626864" y="4133087"/>
            <a:ext cx="1298448" cy="1042415"/>
          </a:xfrm>
          <a:prstGeom prst="roundRect">
            <a:avLst>
              <a:gd name="adj" fmla="val 6000"/>
            </a:avLst>
          </a:prstGeom>
          <a:solidFill>
            <a:srgbClr val="FFFFFF"/>
          </a:solidFill>
          <a:ln w="15875">
            <a:solidFill>
              <a:srgbClr val="21134D"/>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5A5A5A"/>
                </a:solidFill>
                <a:latin typeface="Red Hat Text"/>
              </a:rPr>
              <a:t>Risk prioritization</a:t>
            </a:r>
          </a:p>
          <a:p>
            <a:pPr algn="ctr">
              <a:lnSpc>
                <a:spcPct val="95000"/>
              </a:lnSpc>
              <a:spcBef>
                <a:spcPts val="300"/>
              </a:spcBef>
            </a:pPr>
            <a:r>
              <a:rPr sz="850">
                <a:solidFill>
                  <a:srgbClr val="5A5A5A"/>
                </a:solidFill>
                <a:latin typeface="Red Hat Text"/>
              </a:rPr>
              <a:t>Ranks affected apps
by exposure</a:t>
            </a:r>
          </a:p>
        </p:txBody>
      </p:sp>
      <p:sp>
        <p:nvSpPr>
          <p:cNvPr id="37" name="Rounded Rectangle 36"/>
          <p:cNvSpPr/>
          <p:nvPr/>
        </p:nvSpPr>
        <p:spPr>
          <a:xfrm>
            <a:off x="6117336" y="4133087"/>
            <a:ext cx="1298448" cy="1042415"/>
          </a:xfrm>
          <a:prstGeom prst="roundRect">
            <a:avLst>
              <a:gd name="adj" fmla="val 6000"/>
            </a:avLst>
          </a:prstGeom>
          <a:solidFill>
            <a:srgbClr val="FFFFFF"/>
          </a:solidFill>
          <a:ln w="15875">
            <a:solidFill>
              <a:srgbClr val="2113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SBOM inventory
+ Arena View</a:t>
            </a:r>
          </a:p>
          <a:p>
            <a:pPr algn="ctr">
              <a:lnSpc>
                <a:spcPct val="95000"/>
              </a:lnSpc>
              <a:spcBef>
                <a:spcPts val="300"/>
              </a:spcBef>
            </a:pPr>
            <a:r>
              <a:rPr sz="850">
                <a:solidFill>
                  <a:srgbClr val="5A5A5A"/>
                </a:solidFill>
                <a:latin typeface="Red Hat Text"/>
              </a:rPr>
              <a:t>12 of 537 apps
on an older build</a:t>
            </a:r>
          </a:p>
        </p:txBody>
      </p:sp>
      <p:sp>
        <p:nvSpPr>
          <p:cNvPr id="38" name="Rounded Rectangle 37"/>
          <p:cNvSpPr/>
          <p:nvPr/>
        </p:nvSpPr>
        <p:spPr>
          <a:xfrm>
            <a:off x="7607808" y="4133087"/>
            <a:ext cx="1298448" cy="1042415"/>
          </a:xfrm>
          <a:prstGeom prst="roundRect">
            <a:avLst>
              <a:gd name="adj" fmla="val 6000"/>
            </a:avLst>
          </a:prstGeom>
          <a:solidFill>
            <a:srgbClr val="FFFFFF"/>
          </a:solidFill>
          <a:ln w="15875">
            <a:solidFill>
              <a:srgbClr val="21134D"/>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5A5A5A"/>
                </a:solidFill>
                <a:latin typeface="Red Hat Text"/>
              </a:rPr>
              <a:t>Concert
Secure Coder</a:t>
            </a:r>
          </a:p>
          <a:p>
            <a:pPr algn="ctr">
              <a:lnSpc>
                <a:spcPct val="95000"/>
              </a:lnSpc>
              <a:spcBef>
                <a:spcPts val="300"/>
              </a:spcBef>
            </a:pPr>
            <a:r>
              <a:rPr sz="850">
                <a:solidFill>
                  <a:srgbClr val="5A5A5A"/>
                </a:solidFill>
                <a:latin typeface="Red Hat Text"/>
              </a:rPr>
              <a:t>Safe-version fix,
opens a pull request</a:t>
            </a:r>
          </a:p>
        </p:txBody>
      </p:sp>
      <p:sp>
        <p:nvSpPr>
          <p:cNvPr id="39" name="Rounded Rectangle 38"/>
          <p:cNvSpPr/>
          <p:nvPr/>
        </p:nvSpPr>
        <p:spPr>
          <a:xfrm>
            <a:off x="9098280" y="4133087"/>
            <a:ext cx="1298448" cy="1042415"/>
          </a:xfrm>
          <a:prstGeom prst="roundRect">
            <a:avLst>
              <a:gd name="adj" fmla="val 6000"/>
            </a:avLst>
          </a:prstGeom>
          <a:solidFill>
            <a:srgbClr val="FFFFFF"/>
          </a:solidFill>
          <a:ln w="15875">
            <a:solidFill>
              <a:srgbClr val="21134D"/>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5A5A5A"/>
                </a:solidFill>
                <a:latin typeface="Red Hat Text"/>
              </a:rPr>
              <a:t>Concert Workflows</a:t>
            </a:r>
          </a:p>
          <a:p>
            <a:pPr algn="ctr">
              <a:lnSpc>
                <a:spcPct val="95000"/>
              </a:lnSpc>
              <a:spcBef>
                <a:spcPts val="300"/>
              </a:spcBef>
            </a:pPr>
            <a:r>
              <a:rPr sz="850">
                <a:solidFill>
                  <a:srgbClr val="5A5A5A"/>
                </a:solidFill>
                <a:latin typeface="Red Hat Text"/>
              </a:rPr>
              <a:t>Change request,
approval, tracked</a:t>
            </a:r>
          </a:p>
        </p:txBody>
      </p:sp>
      <p:sp>
        <p:nvSpPr>
          <p:cNvPr id="40" name="Rounded Rectangle 39"/>
          <p:cNvSpPr/>
          <p:nvPr/>
        </p:nvSpPr>
        <p:spPr>
          <a:xfrm>
            <a:off x="10588752" y="4133087"/>
            <a:ext cx="1298448" cy="1042415"/>
          </a:xfrm>
          <a:prstGeom prst="roundRect">
            <a:avLst>
              <a:gd name="adj" fmla="val 6000"/>
            </a:avLst>
          </a:prstGeom>
          <a:solidFill>
            <a:srgbClr val="FFFFFF"/>
          </a:solidFill>
          <a:ln w="15875">
            <a:solidFill>
              <a:srgbClr val="2113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1000" b="1">
                <a:solidFill>
                  <a:srgbClr val="151515"/>
                </a:solidFill>
                <a:latin typeface="Red Hat Text"/>
              </a:rPr>
              <a:t>SBOM updated</a:t>
            </a:r>
          </a:p>
          <a:p>
            <a:pPr algn="ctr">
              <a:lnSpc>
                <a:spcPct val="95000"/>
              </a:lnSpc>
              <a:spcBef>
                <a:spcPts val="300"/>
              </a:spcBef>
            </a:pPr>
            <a:r>
              <a:rPr sz="850">
                <a:solidFill>
                  <a:srgbClr val="5A5A5A"/>
                </a:solidFill>
                <a:latin typeface="Red Hat Text"/>
              </a:rPr>
              <a:t>Portfolio drift
12 to 11</a:t>
            </a:r>
          </a:p>
        </p:txBody>
      </p:sp>
      <p:cxnSp>
        <p:nvCxnSpPr>
          <p:cNvPr id="41" name="Connector 40"/>
          <p:cNvCxnSpPr/>
          <p:nvPr/>
        </p:nvCxnSpPr>
        <p:spPr>
          <a:xfrm>
            <a:off x="2962656" y="2916935"/>
            <a:ext cx="155448"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53128" y="2916935"/>
            <a:ext cx="155448"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43600" y="2916935"/>
            <a:ext cx="155448"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434072" y="2916935"/>
            <a:ext cx="155448"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924544" y="2916935"/>
            <a:ext cx="155448"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415016" y="2916935"/>
            <a:ext cx="155448"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962656" y="4654294"/>
            <a:ext cx="155448"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528816" y="3456431"/>
            <a:ext cx="0" cy="658368"/>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004304" y="3456431"/>
            <a:ext cx="0" cy="658368"/>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237976" y="3456431"/>
            <a:ext cx="0" cy="658368"/>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1911096" y="2276856"/>
            <a:ext cx="768096" cy="228600"/>
          </a:xfrm>
          <a:prstGeom prst="roundRect">
            <a:avLst>
              <a:gd name="adj" fmla="val 30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FFFFFF"/>
                </a:solidFill>
                <a:latin typeface="Red Hat Display"/>
              </a:rPr>
              <a:t>TRIGGER</a:t>
            </a:r>
          </a:p>
        </p:txBody>
      </p:sp>
      <p:sp>
        <p:nvSpPr>
          <p:cNvPr id="52" name="TextBox 51"/>
          <p:cNvSpPr txBox="1"/>
          <p:nvPr/>
        </p:nvSpPr>
        <p:spPr>
          <a:xfrm>
            <a:off x="713232" y="5431536"/>
            <a:ext cx="11173968" cy="237744"/>
          </a:xfrm>
          <a:prstGeom prst="rect">
            <a:avLst/>
          </a:prstGeom>
          <a:noFill/>
        </p:spPr>
        <p:txBody>
          <a:bodyPr wrap="square" lIns="0" rIns="0" tIns="0" bIns="0" anchor="t">
            <a:spAutoFit/>
          </a:bodyPr>
          <a:lstStyle/>
          <a:p>
            <a:pPr algn="ctr">
              <a:lnSpc>
                <a:spcPct val="100000"/>
              </a:lnSpc>
            </a:pPr>
            <a:r>
              <a:rPr sz="950" b="0" i="1">
                <a:solidFill>
                  <a:srgbClr val="8C8C8C"/>
                </a:solidFill>
                <a:latin typeface="Red Hat Text"/>
              </a:rPr>
              <a:t>Solid outline — the path this lab walks   ·   Dotted outline — the same step, owned by Concert instead</a:t>
            </a:r>
          </a:p>
        </p:txBody>
      </p:sp>
      <p:sp>
        <p:nvSpPr>
          <p:cNvPr id="53" name="TextBox 52"/>
          <p:cNvSpPr txBox="1"/>
          <p:nvPr/>
        </p:nvSpPr>
        <p:spPr>
          <a:xfrm>
            <a:off x="713232" y="5742432"/>
            <a:ext cx="11173968" cy="365760"/>
          </a:xfrm>
          <a:prstGeom prst="rect">
            <a:avLst/>
          </a:prstGeom>
          <a:noFill/>
        </p:spPr>
        <p:txBody>
          <a:bodyPr wrap="square" lIns="0" rIns="0" tIns="0" bIns="0" anchor="t">
            <a:spAutoFit/>
          </a:bodyPr>
          <a:lstStyle/>
          <a:p>
            <a:pPr algn="ctr">
              <a:lnSpc>
                <a:spcPct val="100000"/>
              </a:lnSpc>
            </a:pPr>
            <a:r>
              <a:rPr sz="1350" b="0" i="0">
                <a:solidFill>
                  <a:srgbClr val="151515"/>
                </a:solidFill>
                <a:latin typeface="Red Hat Text"/>
              </a:rPr>
              <a:t/>
            </a:r>
            <a:r>
              <a:rPr sz="1350" b="1">
                <a:solidFill>
                  <a:srgbClr val="151515"/>
                </a:solidFill>
                <a:latin typeface="Red Hat Text"/>
                <a:highlight>
                  <a:srgbClr val="F9D5D8"/>
                </a:highlight>
              </a:rPr>
              <a:t>The trigger is a fix being published</a:t>
            </a:r>
            <a:r>
              <a:rPr sz="1350" b="0">
                <a:solidFill>
                  <a:srgbClr val="151515"/>
                </a:solidFill>
                <a:latin typeface="Red Hat Text"/>
              </a:rPr>
              <a:t> — not a flaw being found.  Publish to validated production deploy in ~3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6</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The flow, with timings</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Package publish to validated production deploy in ~3 minutes</a:t>
            </a:r>
          </a:p>
        </p:txBody>
      </p:sp>
      <p:sp>
        <p:nvSpPr>
          <p:cNvPr id="8" name="Rectangle 7"/>
          <p:cNvSpPr/>
          <p:nvPr/>
        </p:nvSpPr>
        <p:spPr>
          <a:xfrm>
            <a:off x="481431" y="2066543"/>
            <a:ext cx="11228832" cy="15875"/>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1431"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0:00</a:t>
            </a:r>
          </a:p>
        </p:txBody>
      </p:sp>
      <p:sp>
        <p:nvSpPr>
          <p:cNvPr id="10" name="Oval 9"/>
          <p:cNvSpPr/>
          <p:nvPr/>
        </p:nvSpPr>
        <p:spPr>
          <a:xfrm>
            <a:off x="947775"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1</a:t>
            </a:r>
          </a:p>
        </p:txBody>
      </p:sp>
      <p:sp>
        <p:nvSpPr>
          <p:cNvPr id="11" name="Rounded Rectangle 10"/>
          <p:cNvSpPr/>
          <p:nvPr/>
        </p:nvSpPr>
        <p:spPr>
          <a:xfrm>
            <a:off x="481431" y="2450592"/>
            <a:ext cx="1243584" cy="115214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Package
published</a:t>
            </a:r>
          </a:p>
          <a:p>
            <a:pPr algn="ctr">
              <a:lnSpc>
                <a:spcPct val="95000"/>
              </a:lnSpc>
              <a:spcBef>
                <a:spcPts val="300"/>
              </a:spcBef>
            </a:pPr>
            <a:r>
              <a:rPr sz="850">
                <a:solidFill>
                  <a:srgbClr val="5A5A5A"/>
                </a:solidFill>
                <a:latin typeface="Red Hat Text"/>
              </a:rPr>
              <a:t>Artifactory</a:t>
            </a:r>
          </a:p>
        </p:txBody>
      </p:sp>
      <p:sp>
        <p:nvSpPr>
          <p:cNvPr id="12" name="TextBox 11"/>
          <p:cNvSpPr txBox="1"/>
          <p:nvPr/>
        </p:nvSpPr>
        <p:spPr>
          <a:xfrm>
            <a:off x="1907895"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0:02</a:t>
            </a:r>
          </a:p>
        </p:txBody>
      </p:sp>
      <p:sp>
        <p:nvSpPr>
          <p:cNvPr id="13" name="Oval 12"/>
          <p:cNvSpPr/>
          <p:nvPr/>
        </p:nvSpPr>
        <p:spPr>
          <a:xfrm>
            <a:off x="2374239"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2</a:t>
            </a:r>
          </a:p>
        </p:txBody>
      </p:sp>
      <p:sp>
        <p:nvSpPr>
          <p:cNvPr id="14" name="Rounded Rectangle 13"/>
          <p:cNvSpPr/>
          <p:nvPr/>
        </p:nvSpPr>
        <p:spPr>
          <a:xfrm>
            <a:off x="1907895" y="2450592"/>
            <a:ext cx="1243584" cy="115214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Webhook in,
rule matches</a:t>
            </a:r>
          </a:p>
          <a:p>
            <a:pPr algn="ctr">
              <a:lnSpc>
                <a:spcPct val="95000"/>
              </a:lnSpc>
              <a:spcBef>
                <a:spcPts val="300"/>
              </a:spcBef>
            </a:pPr>
            <a:r>
              <a:rPr sz="850">
                <a:solidFill>
                  <a:srgbClr val="5A5A5A"/>
                </a:solidFill>
                <a:latin typeface="Red Hat Text"/>
              </a:rPr>
              <a:t>Event-Driven
Ansible</a:t>
            </a:r>
          </a:p>
        </p:txBody>
      </p:sp>
      <p:sp>
        <p:nvSpPr>
          <p:cNvPr id="15" name="TextBox 14"/>
          <p:cNvSpPr txBox="1"/>
          <p:nvPr/>
        </p:nvSpPr>
        <p:spPr>
          <a:xfrm>
            <a:off x="3334359"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0:05</a:t>
            </a:r>
          </a:p>
        </p:txBody>
      </p:sp>
      <p:sp>
        <p:nvSpPr>
          <p:cNvPr id="16" name="Oval 15"/>
          <p:cNvSpPr/>
          <p:nvPr/>
        </p:nvSpPr>
        <p:spPr>
          <a:xfrm>
            <a:off x="3800703"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3</a:t>
            </a:r>
          </a:p>
        </p:txBody>
      </p:sp>
      <p:sp>
        <p:nvSpPr>
          <p:cNvPr id="17" name="Rounded Rectangle 16"/>
          <p:cNvSpPr/>
          <p:nvPr/>
        </p:nvSpPr>
        <p:spPr>
          <a:xfrm>
            <a:off x="3334359" y="2450592"/>
            <a:ext cx="1243584" cy="115214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Workflow up,
route decided</a:t>
            </a:r>
          </a:p>
          <a:p>
            <a:pPr algn="ctr">
              <a:lnSpc>
                <a:spcPct val="95000"/>
              </a:lnSpc>
              <a:spcBef>
                <a:spcPts val="300"/>
              </a:spcBef>
            </a:pPr>
            <a:r>
              <a:rPr sz="850">
                <a:solidFill>
                  <a:srgbClr val="5A5A5A"/>
                </a:solidFill>
                <a:latin typeface="Red Hat Text"/>
              </a:rPr>
              <a:t>Automation
Orchestrator</a:t>
            </a:r>
          </a:p>
        </p:txBody>
      </p:sp>
      <p:sp>
        <p:nvSpPr>
          <p:cNvPr id="18" name="TextBox 17"/>
          <p:cNvSpPr txBox="1"/>
          <p:nvPr/>
        </p:nvSpPr>
        <p:spPr>
          <a:xfrm>
            <a:off x="4760823"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0:11</a:t>
            </a:r>
          </a:p>
        </p:txBody>
      </p:sp>
      <p:sp>
        <p:nvSpPr>
          <p:cNvPr id="19" name="Oval 18"/>
          <p:cNvSpPr/>
          <p:nvPr/>
        </p:nvSpPr>
        <p:spPr>
          <a:xfrm>
            <a:off x="5227167"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4</a:t>
            </a:r>
          </a:p>
        </p:txBody>
      </p:sp>
      <p:sp>
        <p:nvSpPr>
          <p:cNvPr id="20" name="Rounded Rectangle 19"/>
          <p:cNvSpPr/>
          <p:nvPr/>
        </p:nvSpPr>
        <p:spPr>
          <a:xfrm>
            <a:off x="4760823" y="2450592"/>
            <a:ext cx="1243584" cy="1152144"/>
          </a:xfrm>
          <a:prstGeom prst="roundRect">
            <a:avLst>
              <a:gd name="adj" fmla="val 6000"/>
            </a:avLst>
          </a:prstGeom>
          <a:solidFill>
            <a:srgbClr val="FFFFFF"/>
          </a:solidFill>
          <a:ln w="15875">
            <a:solidFill>
              <a:srgbClr val="2113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12 of 537
apps affected</a:t>
            </a:r>
          </a:p>
          <a:p>
            <a:pPr algn="ctr">
              <a:lnSpc>
                <a:spcPct val="95000"/>
              </a:lnSpc>
              <a:spcBef>
                <a:spcPts val="300"/>
              </a:spcBef>
            </a:pPr>
            <a:r>
              <a:rPr sz="850">
                <a:solidFill>
                  <a:srgbClr val="5A5A5A"/>
                </a:solidFill>
                <a:latin typeface="Red Hat Text"/>
              </a:rPr>
              <a:t>IBM Concert</a:t>
            </a:r>
          </a:p>
        </p:txBody>
      </p:sp>
      <p:sp>
        <p:nvSpPr>
          <p:cNvPr id="21" name="TextBox 20"/>
          <p:cNvSpPr txBox="1"/>
          <p:nvPr/>
        </p:nvSpPr>
        <p:spPr>
          <a:xfrm>
            <a:off x="6187287"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0:24</a:t>
            </a:r>
          </a:p>
        </p:txBody>
      </p:sp>
      <p:sp>
        <p:nvSpPr>
          <p:cNvPr id="22" name="Oval 21"/>
          <p:cNvSpPr/>
          <p:nvPr/>
        </p:nvSpPr>
        <p:spPr>
          <a:xfrm>
            <a:off x="6653631"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5</a:t>
            </a:r>
          </a:p>
        </p:txBody>
      </p:sp>
      <p:sp>
        <p:nvSpPr>
          <p:cNvPr id="23" name="Rounded Rectangle 22"/>
          <p:cNvSpPr/>
          <p:nvPr/>
        </p:nvSpPr>
        <p:spPr>
          <a:xfrm>
            <a:off x="6187287" y="2450592"/>
            <a:ext cx="1243584" cy="115214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Version bumped,
branch pushed</a:t>
            </a:r>
          </a:p>
          <a:p>
            <a:pPr algn="ctr">
              <a:lnSpc>
                <a:spcPct val="95000"/>
              </a:lnSpc>
              <a:spcBef>
                <a:spcPts val="300"/>
              </a:spcBef>
            </a:pPr>
            <a:r>
              <a:rPr sz="850">
                <a:solidFill>
                  <a:srgbClr val="5A5A5A"/>
                </a:solidFill>
                <a:latin typeface="Red Hat Text"/>
              </a:rPr>
              <a:t>AAP</a:t>
            </a:r>
          </a:p>
        </p:txBody>
      </p:sp>
      <p:sp>
        <p:nvSpPr>
          <p:cNvPr id="24" name="TextBox 23"/>
          <p:cNvSpPr txBox="1"/>
          <p:nvPr/>
        </p:nvSpPr>
        <p:spPr>
          <a:xfrm>
            <a:off x="7613751"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1:40</a:t>
            </a:r>
          </a:p>
        </p:txBody>
      </p:sp>
      <p:sp>
        <p:nvSpPr>
          <p:cNvPr id="25" name="Oval 24"/>
          <p:cNvSpPr/>
          <p:nvPr/>
        </p:nvSpPr>
        <p:spPr>
          <a:xfrm>
            <a:off x="8080095"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6</a:t>
            </a:r>
          </a:p>
        </p:txBody>
      </p:sp>
      <p:sp>
        <p:nvSpPr>
          <p:cNvPr id="26" name="Rounded Rectangle 25"/>
          <p:cNvSpPr/>
          <p:nvPr/>
        </p:nvSpPr>
        <p:spPr>
          <a:xfrm>
            <a:off x="7613751" y="2450592"/>
            <a:ext cx="1243584" cy="115214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Test, build,
push image</a:t>
            </a:r>
          </a:p>
          <a:p>
            <a:pPr algn="ctr">
              <a:lnSpc>
                <a:spcPct val="95000"/>
              </a:lnSpc>
              <a:spcBef>
                <a:spcPts val="300"/>
              </a:spcBef>
            </a:pPr>
            <a:r>
              <a:rPr sz="850">
                <a:solidFill>
                  <a:srgbClr val="5A5A5A"/>
                </a:solidFill>
                <a:latin typeface="Red Hat Text"/>
              </a:rPr>
              <a:t>Tekton</a:t>
            </a:r>
          </a:p>
        </p:txBody>
      </p:sp>
      <p:sp>
        <p:nvSpPr>
          <p:cNvPr id="27" name="TextBox 26"/>
          <p:cNvSpPr txBox="1"/>
          <p:nvPr/>
        </p:nvSpPr>
        <p:spPr>
          <a:xfrm>
            <a:off x="9040215"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2:30</a:t>
            </a:r>
          </a:p>
        </p:txBody>
      </p:sp>
      <p:sp>
        <p:nvSpPr>
          <p:cNvPr id="28" name="Oval 27"/>
          <p:cNvSpPr/>
          <p:nvPr/>
        </p:nvSpPr>
        <p:spPr>
          <a:xfrm>
            <a:off x="9506559"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7</a:t>
            </a:r>
          </a:p>
        </p:txBody>
      </p:sp>
      <p:sp>
        <p:nvSpPr>
          <p:cNvPr id="29" name="Rounded Rectangle 28"/>
          <p:cNvSpPr/>
          <p:nvPr/>
        </p:nvSpPr>
        <p:spPr>
          <a:xfrm>
            <a:off x="9040215" y="2450592"/>
            <a:ext cx="1243584" cy="1152144"/>
          </a:xfrm>
          <a:prstGeom prst="roundRect">
            <a:avLst>
              <a:gd name="adj" fmla="val 6000"/>
            </a:avLst>
          </a:prstGeom>
          <a:solidFill>
            <a:srgbClr val="FFFFFF"/>
          </a:solidFill>
          <a:ln w="15875">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Auto-sync,
rolling update</a:t>
            </a:r>
          </a:p>
          <a:p>
            <a:pPr algn="ctr">
              <a:lnSpc>
                <a:spcPct val="95000"/>
              </a:lnSpc>
              <a:spcBef>
                <a:spcPts val="300"/>
              </a:spcBef>
            </a:pPr>
            <a:r>
              <a:rPr sz="850">
                <a:solidFill>
                  <a:srgbClr val="5A5A5A"/>
                </a:solidFill>
                <a:latin typeface="Red Hat Text"/>
              </a:rPr>
              <a:t>ArgoCD</a:t>
            </a:r>
          </a:p>
        </p:txBody>
      </p:sp>
      <p:sp>
        <p:nvSpPr>
          <p:cNvPr id="30" name="TextBox 29"/>
          <p:cNvSpPr txBox="1"/>
          <p:nvPr/>
        </p:nvSpPr>
        <p:spPr>
          <a:xfrm>
            <a:off x="10466679" y="1591056"/>
            <a:ext cx="1243584" cy="274320"/>
          </a:xfrm>
          <a:prstGeom prst="rect">
            <a:avLst/>
          </a:prstGeom>
          <a:noFill/>
        </p:spPr>
        <p:txBody>
          <a:bodyPr wrap="square" lIns="0" rIns="0" tIns="0" bIns="0" anchor="t">
            <a:spAutoFit/>
          </a:bodyPr>
          <a:lstStyle/>
          <a:p>
            <a:pPr algn="ctr">
              <a:lnSpc>
                <a:spcPct val="100000"/>
              </a:lnSpc>
            </a:pPr>
            <a:r>
              <a:rPr sz="1250" b="1" i="0">
                <a:solidFill>
                  <a:srgbClr val="EE0000"/>
                </a:solidFill>
                <a:latin typeface="Red Hat Display"/>
              </a:rPr>
              <a:t>2:58</a:t>
            </a:r>
          </a:p>
        </p:txBody>
      </p:sp>
      <p:sp>
        <p:nvSpPr>
          <p:cNvPr id="31" name="Oval 30"/>
          <p:cNvSpPr/>
          <p:nvPr/>
        </p:nvSpPr>
        <p:spPr>
          <a:xfrm>
            <a:off x="10933023" y="1911095"/>
            <a:ext cx="310896" cy="310896"/>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8</a:t>
            </a:r>
          </a:p>
        </p:txBody>
      </p:sp>
      <p:sp>
        <p:nvSpPr>
          <p:cNvPr id="32" name="Rounded Rectangle 31"/>
          <p:cNvSpPr/>
          <p:nvPr/>
        </p:nvSpPr>
        <p:spPr>
          <a:xfrm>
            <a:off x="10466679" y="2450592"/>
            <a:ext cx="1243584" cy="1152144"/>
          </a:xfrm>
          <a:prstGeom prst="roundRect">
            <a:avLst>
              <a:gd name="adj" fmla="val 6000"/>
            </a:avLst>
          </a:prstGeom>
          <a:solidFill>
            <a:srgbClr val="FFFFFF"/>
          </a:solidFill>
          <a:ln w="15875">
            <a:solidFill>
              <a:srgbClr val="21134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a:lstStyle/>
          <a:p>
            <a:pPr algn="ctr">
              <a:lnSpc>
                <a:spcPct val="95000"/>
              </a:lnSpc>
            </a:pPr>
            <a:r>
              <a:rPr sz="950" b="1">
                <a:solidFill>
                  <a:srgbClr val="151515"/>
                </a:solidFill>
                <a:latin typeface="Red Hat Text"/>
              </a:rPr>
              <a:t>Healthy,
SBOM updated</a:t>
            </a:r>
          </a:p>
          <a:p>
            <a:pPr algn="ctr">
              <a:lnSpc>
                <a:spcPct val="95000"/>
              </a:lnSpc>
              <a:spcBef>
                <a:spcPts val="300"/>
              </a:spcBef>
            </a:pPr>
            <a:r>
              <a:rPr sz="850">
                <a:solidFill>
                  <a:srgbClr val="5A5A5A"/>
                </a:solidFill>
                <a:latin typeface="Red Hat Text"/>
              </a:rPr>
              <a:t>AAP + Concert</a:t>
            </a:r>
          </a:p>
        </p:txBody>
      </p:sp>
      <p:cxnSp>
        <p:nvCxnSpPr>
          <p:cNvPr id="33" name="Connector 32"/>
          <p:cNvCxnSpPr/>
          <p:nvPr/>
        </p:nvCxnSpPr>
        <p:spPr>
          <a:xfrm>
            <a:off x="1743303" y="3026664"/>
            <a:ext cx="146304"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169767" y="3026664"/>
            <a:ext cx="146304"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596231" y="3026664"/>
            <a:ext cx="146304"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022695" y="3026664"/>
            <a:ext cx="146304"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49159" y="3026664"/>
            <a:ext cx="146304"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875623" y="3026664"/>
            <a:ext cx="146304"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302087" y="3026664"/>
            <a:ext cx="146304" cy="0"/>
          </a:xfrm>
          <a:prstGeom prst="line">
            <a:avLst/>
          </a:prstGeom>
          <a:ln w="22225">
            <a:solidFill>
              <a:srgbClr val="4D4D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81431" y="4169663"/>
            <a:ext cx="11228832" cy="566928"/>
          </a:xfrm>
          <a:prstGeom prst="roundRect">
            <a:avLst>
              <a:gd name="adj" fmla="val 22000"/>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Red Hat Display"/>
              </a:rPr>
              <a:t>~3 minutes  ·  package publish to validated production deployment  ·  zero manual steps</a:t>
            </a:r>
          </a:p>
        </p:txBody>
      </p:sp>
      <p:sp>
        <p:nvSpPr>
          <p:cNvPr id="41" name="TextBox 40"/>
          <p:cNvSpPr txBox="1"/>
          <p:nvPr/>
        </p:nvSpPr>
        <p:spPr>
          <a:xfrm>
            <a:off x="481431" y="5029200"/>
            <a:ext cx="11228832" cy="822960"/>
          </a:xfrm>
          <a:prstGeom prst="rect">
            <a:avLst/>
          </a:prstGeom>
          <a:noFill/>
        </p:spPr>
        <p:txBody>
          <a:bodyPr wrap="square" lIns="0" rIns="0" tIns="0" bIns="0" anchor="t">
            <a:spAutoFit/>
          </a:bodyPr>
          <a:lstStyle/>
          <a:p>
            <a:pPr algn="ctr">
              <a:lnSpc>
                <a:spcPct val="120000"/>
              </a:lnSpc>
            </a:pPr>
            <a:r>
              <a:rPr sz="1300" b="0" i="1">
                <a:solidFill>
                  <a:srgbClr val="5A5A5A"/>
                </a:solidFill>
                <a:latin typeface="Red Hat Text"/>
              </a:rPr>
              <a:t>Compare: the same change through a ticket-driven process is typically 2–6 weeks of elapsed time, most of it spent identifying which applications are affected and who owns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7</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What you'll do</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Three modules, 55 minutes hands-on</a:t>
            </a:r>
          </a:p>
        </p:txBody>
      </p:sp>
      <p:sp>
        <p:nvSpPr>
          <p:cNvPr id="8" name="Rounded Rectangle 7"/>
          <p:cNvSpPr/>
          <p:nvPr/>
        </p:nvSpPr>
        <p:spPr>
          <a:xfrm>
            <a:off x="1051560" y="1783080"/>
            <a:ext cx="3310128" cy="3246120"/>
          </a:xfrm>
          <a:prstGeom prst="roundRect">
            <a:avLst>
              <a:gd name="adj" fmla="val 6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44168" y="2029968"/>
            <a:ext cx="1371600" cy="685800"/>
          </a:xfrm>
          <a:prstGeom prst="rect">
            <a:avLst/>
          </a:prstGeom>
          <a:noFill/>
        </p:spPr>
        <p:txBody>
          <a:bodyPr wrap="square" lIns="0" rIns="0" tIns="0" bIns="0" anchor="t">
            <a:spAutoFit/>
          </a:bodyPr>
          <a:lstStyle/>
          <a:p>
            <a:pPr algn="l">
              <a:lnSpc>
                <a:spcPct val="100000"/>
              </a:lnSpc>
            </a:pPr>
            <a:r>
              <a:rPr sz="3800" b="1" i="0">
                <a:solidFill>
                  <a:srgbClr val="EBEBEB"/>
                </a:solidFill>
                <a:latin typeface="Red Hat Display"/>
              </a:rPr>
              <a:t>01</a:t>
            </a:r>
          </a:p>
        </p:txBody>
      </p:sp>
      <p:sp>
        <p:nvSpPr>
          <p:cNvPr id="10" name="TextBox 9"/>
          <p:cNvSpPr txBox="1"/>
          <p:nvPr/>
        </p:nvSpPr>
        <p:spPr>
          <a:xfrm>
            <a:off x="1344168" y="2761488"/>
            <a:ext cx="2724912" cy="320040"/>
          </a:xfrm>
          <a:prstGeom prst="rect">
            <a:avLst/>
          </a:prstGeom>
          <a:noFill/>
        </p:spPr>
        <p:txBody>
          <a:bodyPr wrap="square" lIns="0" rIns="0" tIns="0" bIns="0" anchor="t">
            <a:spAutoFit/>
          </a:bodyPr>
          <a:lstStyle/>
          <a:p>
            <a:pPr algn="l">
              <a:lnSpc>
                <a:spcPct val="100000"/>
              </a:lnSpc>
            </a:pPr>
            <a:r>
              <a:rPr sz="1800" b="1" i="0">
                <a:solidFill>
                  <a:srgbClr val="EE0000"/>
                </a:solidFill>
                <a:latin typeface="Red Hat Display"/>
              </a:rPr>
              <a:t>DETECT</a:t>
            </a:r>
          </a:p>
        </p:txBody>
      </p:sp>
      <p:sp>
        <p:nvSpPr>
          <p:cNvPr id="11" name="TextBox 10"/>
          <p:cNvSpPr txBox="1"/>
          <p:nvPr/>
        </p:nvSpPr>
        <p:spPr>
          <a:xfrm>
            <a:off x="1344168" y="3127248"/>
            <a:ext cx="2724912" cy="256032"/>
          </a:xfrm>
          <a:prstGeom prst="rect">
            <a:avLst/>
          </a:prstGeom>
          <a:noFill/>
        </p:spPr>
        <p:txBody>
          <a:bodyPr wrap="square" lIns="0" rIns="0" tIns="0" bIns="0" anchor="t">
            <a:spAutoFit/>
          </a:bodyPr>
          <a:lstStyle/>
          <a:p>
            <a:pPr algn="l">
              <a:lnSpc>
                <a:spcPct val="100000"/>
              </a:lnSpc>
            </a:pPr>
            <a:r>
              <a:rPr sz="1150" b="1" i="0">
                <a:solidFill>
                  <a:srgbClr val="5A5A5A"/>
                </a:solidFill>
                <a:latin typeface="Red Hat Text"/>
              </a:rPr>
              <a:t>~15 min</a:t>
            </a:r>
          </a:p>
        </p:txBody>
      </p:sp>
      <p:sp>
        <p:nvSpPr>
          <p:cNvPr id="12" name="TextBox 11"/>
          <p:cNvSpPr txBox="1"/>
          <p:nvPr/>
        </p:nvSpPr>
        <p:spPr>
          <a:xfrm>
            <a:off x="1344168" y="3511296"/>
            <a:ext cx="2724912" cy="1280160"/>
          </a:xfrm>
          <a:prstGeom prst="rect">
            <a:avLst/>
          </a:prstGeom>
          <a:noFill/>
        </p:spPr>
        <p:txBody>
          <a:bodyPr wrap="square" lIns="0" rIns="0" tIns="0" bIns="0" anchor="t">
            <a:spAutoFit/>
          </a:bodyPr>
          <a:lstStyle/>
          <a:p>
            <a:pPr algn="l">
              <a:lnSpc>
                <a:spcPct val="120000"/>
              </a:lnSpc>
            </a:pPr>
            <a:r>
              <a:rPr sz="1200" b="0" i="0">
                <a:solidFill>
                  <a:srgbClr val="151515"/>
                </a:solidFill>
                <a:latin typeface="Red Hat Text"/>
              </a:rPr>
              <a:t>Publish the Lightwell package. Watch EDA fire. Read Concert's portfolio impact analysis and Arena View topology, and follow the AO routing decision.</a:t>
            </a:r>
          </a:p>
        </p:txBody>
      </p:sp>
      <p:sp>
        <p:nvSpPr>
          <p:cNvPr id="13" name="Rounded Rectangle 12"/>
          <p:cNvSpPr/>
          <p:nvPr/>
        </p:nvSpPr>
        <p:spPr>
          <a:xfrm>
            <a:off x="4581144" y="1783080"/>
            <a:ext cx="3310128" cy="3246120"/>
          </a:xfrm>
          <a:prstGeom prst="roundRect">
            <a:avLst>
              <a:gd name="adj" fmla="val 6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873752" y="2029968"/>
            <a:ext cx="1371600" cy="685800"/>
          </a:xfrm>
          <a:prstGeom prst="rect">
            <a:avLst/>
          </a:prstGeom>
          <a:noFill/>
        </p:spPr>
        <p:txBody>
          <a:bodyPr wrap="square" lIns="0" rIns="0" tIns="0" bIns="0" anchor="t">
            <a:spAutoFit/>
          </a:bodyPr>
          <a:lstStyle/>
          <a:p>
            <a:pPr algn="l">
              <a:lnSpc>
                <a:spcPct val="100000"/>
              </a:lnSpc>
            </a:pPr>
            <a:r>
              <a:rPr sz="3800" b="1" i="0">
                <a:solidFill>
                  <a:srgbClr val="EBEBEB"/>
                </a:solidFill>
                <a:latin typeface="Red Hat Display"/>
              </a:rPr>
              <a:t>02</a:t>
            </a:r>
          </a:p>
        </p:txBody>
      </p:sp>
      <p:sp>
        <p:nvSpPr>
          <p:cNvPr id="15" name="TextBox 14"/>
          <p:cNvSpPr txBox="1"/>
          <p:nvPr/>
        </p:nvSpPr>
        <p:spPr>
          <a:xfrm>
            <a:off x="4873752" y="2761488"/>
            <a:ext cx="2724912" cy="320040"/>
          </a:xfrm>
          <a:prstGeom prst="rect">
            <a:avLst/>
          </a:prstGeom>
          <a:noFill/>
        </p:spPr>
        <p:txBody>
          <a:bodyPr wrap="square" lIns="0" rIns="0" tIns="0" bIns="0" anchor="t">
            <a:spAutoFit/>
          </a:bodyPr>
          <a:lstStyle/>
          <a:p>
            <a:pPr algn="l">
              <a:lnSpc>
                <a:spcPct val="100000"/>
              </a:lnSpc>
            </a:pPr>
            <a:r>
              <a:rPr sz="1800" b="1" i="0">
                <a:solidFill>
                  <a:srgbClr val="EE0000"/>
                </a:solidFill>
                <a:latin typeface="Red Hat Display"/>
              </a:rPr>
              <a:t>ORCHESTRATE</a:t>
            </a:r>
          </a:p>
        </p:txBody>
      </p:sp>
      <p:sp>
        <p:nvSpPr>
          <p:cNvPr id="16" name="TextBox 15"/>
          <p:cNvSpPr txBox="1"/>
          <p:nvPr/>
        </p:nvSpPr>
        <p:spPr>
          <a:xfrm>
            <a:off x="4873752" y="3127248"/>
            <a:ext cx="2724912" cy="256032"/>
          </a:xfrm>
          <a:prstGeom prst="rect">
            <a:avLst/>
          </a:prstGeom>
          <a:noFill/>
        </p:spPr>
        <p:txBody>
          <a:bodyPr wrap="square" lIns="0" rIns="0" tIns="0" bIns="0" anchor="t">
            <a:spAutoFit/>
          </a:bodyPr>
          <a:lstStyle/>
          <a:p>
            <a:pPr algn="l">
              <a:lnSpc>
                <a:spcPct val="100000"/>
              </a:lnSpc>
            </a:pPr>
            <a:r>
              <a:rPr sz="1150" b="1" i="0">
                <a:solidFill>
                  <a:srgbClr val="5A5A5A"/>
                </a:solidFill>
                <a:latin typeface="Red Hat Text"/>
              </a:rPr>
              <a:t>~25 min</a:t>
            </a:r>
          </a:p>
        </p:txBody>
      </p:sp>
      <p:sp>
        <p:nvSpPr>
          <p:cNvPr id="17" name="TextBox 16"/>
          <p:cNvSpPr txBox="1"/>
          <p:nvPr/>
        </p:nvSpPr>
        <p:spPr>
          <a:xfrm>
            <a:off x="4873752" y="3511296"/>
            <a:ext cx="2724912" cy="1280160"/>
          </a:xfrm>
          <a:prstGeom prst="rect">
            <a:avLst/>
          </a:prstGeom>
          <a:noFill/>
        </p:spPr>
        <p:txBody>
          <a:bodyPr wrap="square" lIns="0" rIns="0" tIns="0" bIns="0" anchor="t">
            <a:spAutoFit/>
          </a:bodyPr>
          <a:lstStyle/>
          <a:p>
            <a:pPr algn="l">
              <a:lnSpc>
                <a:spcPct val="120000"/>
              </a:lnSpc>
            </a:pPr>
            <a:r>
              <a:rPr sz="1200" b="0" i="0">
                <a:solidFill>
                  <a:srgbClr val="151515"/>
                </a:solidFill>
                <a:latin typeface="Red Hat Text"/>
              </a:rPr>
              <a:t>Watch the AO workflow drive the git commit, the Tekton PipelineRun and the ArgoCD sync. See new pods come up on the remediated package.</a:t>
            </a:r>
          </a:p>
        </p:txBody>
      </p:sp>
      <p:sp>
        <p:nvSpPr>
          <p:cNvPr id="18" name="Rounded Rectangle 17"/>
          <p:cNvSpPr/>
          <p:nvPr/>
        </p:nvSpPr>
        <p:spPr>
          <a:xfrm>
            <a:off x="8110728" y="1783080"/>
            <a:ext cx="3310128" cy="3246120"/>
          </a:xfrm>
          <a:prstGeom prst="roundRect">
            <a:avLst>
              <a:gd name="adj" fmla="val 6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03336" y="2029968"/>
            <a:ext cx="1371600" cy="685800"/>
          </a:xfrm>
          <a:prstGeom prst="rect">
            <a:avLst/>
          </a:prstGeom>
          <a:noFill/>
        </p:spPr>
        <p:txBody>
          <a:bodyPr wrap="square" lIns="0" rIns="0" tIns="0" bIns="0" anchor="t">
            <a:spAutoFit/>
          </a:bodyPr>
          <a:lstStyle/>
          <a:p>
            <a:pPr algn="l">
              <a:lnSpc>
                <a:spcPct val="100000"/>
              </a:lnSpc>
            </a:pPr>
            <a:r>
              <a:rPr sz="3800" b="1" i="0">
                <a:solidFill>
                  <a:srgbClr val="EBEBEB"/>
                </a:solidFill>
                <a:latin typeface="Red Hat Display"/>
              </a:rPr>
              <a:t>03</a:t>
            </a:r>
          </a:p>
        </p:txBody>
      </p:sp>
      <p:sp>
        <p:nvSpPr>
          <p:cNvPr id="20" name="TextBox 19"/>
          <p:cNvSpPr txBox="1"/>
          <p:nvPr/>
        </p:nvSpPr>
        <p:spPr>
          <a:xfrm>
            <a:off x="8403336" y="2761488"/>
            <a:ext cx="2724912" cy="320040"/>
          </a:xfrm>
          <a:prstGeom prst="rect">
            <a:avLst/>
          </a:prstGeom>
          <a:noFill/>
        </p:spPr>
        <p:txBody>
          <a:bodyPr wrap="square" lIns="0" rIns="0" tIns="0" bIns="0" anchor="t">
            <a:spAutoFit/>
          </a:bodyPr>
          <a:lstStyle/>
          <a:p>
            <a:pPr algn="l">
              <a:lnSpc>
                <a:spcPct val="100000"/>
              </a:lnSpc>
            </a:pPr>
            <a:r>
              <a:rPr sz="1800" b="1" i="0">
                <a:solidFill>
                  <a:srgbClr val="EE0000"/>
                </a:solidFill>
                <a:latin typeface="Red Hat Display"/>
              </a:rPr>
              <a:t>VALIDATE</a:t>
            </a:r>
          </a:p>
        </p:txBody>
      </p:sp>
      <p:sp>
        <p:nvSpPr>
          <p:cNvPr id="21" name="TextBox 20"/>
          <p:cNvSpPr txBox="1"/>
          <p:nvPr/>
        </p:nvSpPr>
        <p:spPr>
          <a:xfrm>
            <a:off x="8403336" y="3127248"/>
            <a:ext cx="2724912" cy="256032"/>
          </a:xfrm>
          <a:prstGeom prst="rect">
            <a:avLst/>
          </a:prstGeom>
          <a:noFill/>
        </p:spPr>
        <p:txBody>
          <a:bodyPr wrap="square" lIns="0" rIns="0" tIns="0" bIns="0" anchor="t">
            <a:spAutoFit/>
          </a:bodyPr>
          <a:lstStyle/>
          <a:p>
            <a:pPr algn="l">
              <a:lnSpc>
                <a:spcPct val="100000"/>
              </a:lnSpc>
            </a:pPr>
            <a:r>
              <a:rPr sz="1150" b="1" i="0">
                <a:solidFill>
                  <a:srgbClr val="5A5A5A"/>
                </a:solidFill>
                <a:latin typeface="Red Hat Text"/>
              </a:rPr>
              <a:t>~15 min</a:t>
            </a:r>
          </a:p>
        </p:txBody>
      </p:sp>
      <p:sp>
        <p:nvSpPr>
          <p:cNvPr id="22" name="TextBox 21"/>
          <p:cNvSpPr txBox="1"/>
          <p:nvPr/>
        </p:nvSpPr>
        <p:spPr>
          <a:xfrm>
            <a:off x="8403336" y="3511296"/>
            <a:ext cx="2724912" cy="1280160"/>
          </a:xfrm>
          <a:prstGeom prst="rect">
            <a:avLst/>
          </a:prstGeom>
          <a:noFill/>
        </p:spPr>
        <p:txBody>
          <a:bodyPr wrap="square" lIns="0" rIns="0" tIns="0" bIns="0" anchor="t">
            <a:spAutoFit/>
          </a:bodyPr>
          <a:lstStyle/>
          <a:p>
            <a:pPr algn="l">
              <a:lnSpc>
                <a:spcPct val="120000"/>
              </a:lnSpc>
            </a:pPr>
            <a:r>
              <a:rPr sz="1200" b="0" i="0">
                <a:solidFill>
                  <a:srgbClr val="151515"/>
                </a:solidFill>
                <a:latin typeface="Red Hat Text"/>
              </a:rPr>
              <a:t>Walk the full audit trail — Artifactory › EDA › AO › Concert › Tekton › ArgoCD › running pod — and confirm Concert's inventory reflects reality.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8</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What to watch for</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Four moments that carry the whole argument</a:t>
            </a:r>
          </a:p>
        </p:txBody>
      </p:sp>
      <p:sp>
        <p:nvSpPr>
          <p:cNvPr id="8" name="Pentagon 7"/>
          <p:cNvSpPr/>
          <p:nvPr/>
        </p:nvSpPr>
        <p:spPr>
          <a:xfrm>
            <a:off x="1051560" y="1664208"/>
            <a:ext cx="4160520" cy="841248"/>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400" b="1">
                <a:solidFill>
                  <a:srgbClr val="151515"/>
                </a:solidFill>
                <a:latin typeface="Red Hat Text"/>
              </a:rPr>
              <a:t>The switch node</a:t>
            </a:r>
          </a:p>
        </p:txBody>
      </p:sp>
      <p:sp>
        <p:nvSpPr>
          <p:cNvPr id="9" name="TextBox 8"/>
          <p:cNvSpPr txBox="1"/>
          <p:nvPr/>
        </p:nvSpPr>
        <p:spPr>
          <a:xfrm>
            <a:off x="5532120" y="1755648"/>
            <a:ext cx="5669280" cy="685800"/>
          </a:xfrm>
          <a:prstGeom prst="rect">
            <a:avLst/>
          </a:prstGeom>
          <a:noFill/>
        </p:spPr>
        <p:txBody>
          <a:bodyPr wrap="square" lIns="0" rIns="0" tIns="0" bIns="0" anchor="t">
            <a:spAutoFit/>
          </a:bodyPr>
          <a:lstStyle/>
          <a:p>
            <a:pPr algn="l">
              <a:lnSpc>
                <a:spcPct val="115000"/>
              </a:lnSpc>
            </a:pPr>
            <a:r>
              <a:rPr sz="1300" b="0" i="0">
                <a:solidFill>
                  <a:srgbClr val="EE0000"/>
                </a:solidFill>
                <a:latin typeface="Red Hat Text"/>
              </a:rPr>
              <a:t>That is where your policy lives. Change one condition and the whole risk posture changes.</a:t>
            </a:r>
          </a:p>
        </p:txBody>
      </p:sp>
      <p:sp>
        <p:nvSpPr>
          <p:cNvPr id="10" name="Pentagon 9"/>
          <p:cNvSpPr/>
          <p:nvPr/>
        </p:nvSpPr>
        <p:spPr>
          <a:xfrm>
            <a:off x="1051560" y="2743200"/>
            <a:ext cx="4160520" cy="841248"/>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400" b="1">
                <a:solidFill>
                  <a:srgbClr val="151515"/>
                </a:solidFill>
                <a:latin typeface="Red Hat Text"/>
              </a:rPr>
              <a:t>The Concert query latency</a:t>
            </a:r>
          </a:p>
        </p:txBody>
      </p:sp>
      <p:sp>
        <p:nvSpPr>
          <p:cNvPr id="11" name="TextBox 10"/>
          <p:cNvSpPr txBox="1"/>
          <p:nvPr/>
        </p:nvSpPr>
        <p:spPr>
          <a:xfrm>
            <a:off x="5532120" y="2834640"/>
            <a:ext cx="5669280" cy="685800"/>
          </a:xfrm>
          <a:prstGeom prst="rect">
            <a:avLst/>
          </a:prstGeom>
          <a:noFill/>
        </p:spPr>
        <p:txBody>
          <a:bodyPr wrap="square" lIns="0" rIns="0" tIns="0" bIns="0" anchor="t">
            <a:spAutoFit/>
          </a:bodyPr>
          <a:lstStyle/>
          <a:p>
            <a:pPr algn="l">
              <a:lnSpc>
                <a:spcPct val="115000"/>
              </a:lnSpc>
            </a:pPr>
            <a:r>
              <a:rPr sz="1300" b="0" i="0">
                <a:solidFill>
                  <a:srgbClr val="EE0000"/>
                </a:solidFill>
                <a:latin typeface="Red Hat Text"/>
              </a:rPr>
              <a:t>One API call replaces a portfolio-wide scan. That is the entire value proposition in a single HTTP request.</a:t>
            </a:r>
          </a:p>
        </p:txBody>
      </p:sp>
      <p:sp>
        <p:nvSpPr>
          <p:cNvPr id="12" name="Pentagon 11"/>
          <p:cNvSpPr/>
          <p:nvPr/>
        </p:nvSpPr>
        <p:spPr>
          <a:xfrm>
            <a:off x="1051560" y="3822192"/>
            <a:ext cx="4160520" cy="841248"/>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400" b="1">
                <a:solidFill>
                  <a:srgbClr val="151515"/>
                </a:solidFill>
                <a:latin typeface="Red Hat Text"/>
              </a:rPr>
              <a:t>The ArgoCD sync</a:t>
            </a:r>
          </a:p>
        </p:txBody>
      </p:sp>
      <p:sp>
        <p:nvSpPr>
          <p:cNvPr id="13" name="TextBox 12"/>
          <p:cNvSpPr txBox="1"/>
          <p:nvPr/>
        </p:nvSpPr>
        <p:spPr>
          <a:xfrm>
            <a:off x="5532120" y="3913632"/>
            <a:ext cx="5669280" cy="685800"/>
          </a:xfrm>
          <a:prstGeom prst="rect">
            <a:avLst/>
          </a:prstGeom>
          <a:noFill/>
        </p:spPr>
        <p:txBody>
          <a:bodyPr wrap="square" lIns="0" rIns="0" tIns="0" bIns="0" anchor="t">
            <a:spAutoFit/>
          </a:bodyPr>
          <a:lstStyle/>
          <a:p>
            <a:pPr algn="l">
              <a:lnSpc>
                <a:spcPct val="115000"/>
              </a:lnSpc>
            </a:pPr>
            <a:r>
              <a:rPr sz="1300" b="0" i="0">
                <a:solidFill>
                  <a:srgbClr val="EE0000"/>
                </a:solidFill>
                <a:latin typeface="Red Hat Text"/>
              </a:rPr>
              <a:t>Nobody SSH'd anywhere. Desired state went into Git and the cluster converged. Rollback is one command.</a:t>
            </a:r>
          </a:p>
        </p:txBody>
      </p:sp>
      <p:sp>
        <p:nvSpPr>
          <p:cNvPr id="14" name="Pentagon 13"/>
          <p:cNvSpPr/>
          <p:nvPr/>
        </p:nvSpPr>
        <p:spPr>
          <a:xfrm>
            <a:off x="1051560" y="4901184"/>
            <a:ext cx="4160520" cy="841248"/>
          </a:xfrm>
          <a:prstGeom prst="homePlate">
            <a:avLst>
              <a:gd name="adj" fmla="val 18000"/>
            </a:avLst>
          </a:prstGeom>
          <a:solidFill>
            <a:srgbClr val="FFFFFF"/>
          </a:solidFill>
          <a:ln w="1587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274320"/>
          <a:lstStyle/>
          <a:p>
            <a:pPr algn="l"/>
            <a:r>
              <a:rPr sz="1400" b="1">
                <a:solidFill>
                  <a:srgbClr val="151515"/>
                </a:solidFill>
                <a:latin typeface="Red Hat Text"/>
              </a:rPr>
              <a:t>The audit trail</a:t>
            </a:r>
          </a:p>
        </p:txBody>
      </p:sp>
      <p:sp>
        <p:nvSpPr>
          <p:cNvPr id="15" name="TextBox 14"/>
          <p:cNvSpPr txBox="1"/>
          <p:nvPr/>
        </p:nvSpPr>
        <p:spPr>
          <a:xfrm>
            <a:off x="5532120" y="4992624"/>
            <a:ext cx="5669280" cy="685800"/>
          </a:xfrm>
          <a:prstGeom prst="rect">
            <a:avLst/>
          </a:prstGeom>
          <a:noFill/>
        </p:spPr>
        <p:txBody>
          <a:bodyPr wrap="square" lIns="0" rIns="0" tIns="0" bIns="0" anchor="t">
            <a:spAutoFit/>
          </a:bodyPr>
          <a:lstStyle/>
          <a:p>
            <a:pPr algn="l">
              <a:lnSpc>
                <a:spcPct val="115000"/>
              </a:lnSpc>
            </a:pPr>
            <a:r>
              <a:rPr sz="1300" b="0" i="0">
                <a:solidFill>
                  <a:srgbClr val="EE0000"/>
                </a:solidFill>
                <a:latin typeface="Red Hat Text"/>
              </a:rPr>
              <a:t>Every hop is independently queryable. This is what an auditor actually asks for.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0"/>
            <a:ext cx="19050" cy="914400"/>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57200" y="6528816"/>
            <a:ext cx="19050" cy="329184"/>
          </a:xfrm>
          <a:prstGeom prst="rect">
            <a:avLst/>
          </a:prstGeom>
          <a:solidFill>
            <a:srgbClr val="A3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redhat-logo.png"/>
          <p:cNvPicPr>
            <a:picLocks noChangeAspect="1"/>
          </p:cNvPicPr>
          <p:nvPr/>
        </p:nvPicPr>
        <p:blipFill>
          <a:blip r:embed="rId2"/>
          <a:stretch>
            <a:fillRect/>
          </a:stretch>
        </p:blipFill>
        <p:spPr>
          <a:xfrm>
            <a:off x="10707624" y="6309360"/>
            <a:ext cx="987552" cy="232365"/>
          </a:xfrm>
          <a:prstGeom prst="rect">
            <a:avLst/>
          </a:prstGeom>
        </p:spPr>
      </p:pic>
      <p:sp>
        <p:nvSpPr>
          <p:cNvPr id="5" name="TextBox 4"/>
          <p:cNvSpPr txBox="1"/>
          <p:nvPr/>
        </p:nvSpPr>
        <p:spPr>
          <a:xfrm>
            <a:off x="384048" y="6217920"/>
            <a:ext cx="457200" cy="182880"/>
          </a:xfrm>
          <a:prstGeom prst="rect">
            <a:avLst/>
          </a:prstGeom>
          <a:noFill/>
        </p:spPr>
        <p:txBody>
          <a:bodyPr wrap="square" lIns="0" rIns="0" tIns="0" bIns="0" anchor="t">
            <a:spAutoFit/>
          </a:bodyPr>
          <a:lstStyle/>
          <a:p>
            <a:pPr algn="l">
              <a:lnSpc>
                <a:spcPct val="100000"/>
              </a:lnSpc>
            </a:pPr>
            <a:r>
              <a:rPr sz="800" b="0" i="0">
                <a:solidFill>
                  <a:srgbClr val="8C8C8C"/>
                </a:solidFill>
                <a:latin typeface="Red Hat Text"/>
              </a:rPr>
              <a:t>9</a:t>
            </a:r>
          </a:p>
        </p:txBody>
      </p:sp>
      <p:sp>
        <p:nvSpPr>
          <p:cNvPr id="6" name="TextBox 5"/>
          <p:cNvSpPr txBox="1"/>
          <p:nvPr/>
        </p:nvSpPr>
        <p:spPr>
          <a:xfrm>
            <a:off x="1005840" y="384048"/>
            <a:ext cx="10177272" cy="457200"/>
          </a:xfrm>
          <a:prstGeom prst="rect">
            <a:avLst/>
          </a:prstGeom>
          <a:noFill/>
        </p:spPr>
        <p:txBody>
          <a:bodyPr wrap="square" lIns="0" rIns="0" tIns="0" bIns="0" anchor="t">
            <a:spAutoFit/>
          </a:bodyPr>
          <a:lstStyle/>
          <a:p>
            <a:pPr algn="ctr">
              <a:lnSpc>
                <a:spcPct val="95000"/>
              </a:lnSpc>
            </a:pPr>
            <a:r>
              <a:rPr sz="2700" b="0" i="0">
                <a:solidFill>
                  <a:srgbClr val="151515"/>
                </a:solidFill>
                <a:latin typeface="Red Hat Display"/>
              </a:rPr>
              <a:t>Demo questions</a:t>
            </a:r>
          </a:p>
        </p:txBody>
      </p:sp>
      <p:sp>
        <p:nvSpPr>
          <p:cNvPr id="7" name="TextBox 6"/>
          <p:cNvSpPr txBox="1"/>
          <p:nvPr/>
        </p:nvSpPr>
        <p:spPr>
          <a:xfrm>
            <a:off x="1005840" y="886968"/>
            <a:ext cx="10177272" cy="320040"/>
          </a:xfrm>
          <a:prstGeom prst="rect">
            <a:avLst/>
          </a:prstGeom>
          <a:noFill/>
        </p:spPr>
        <p:txBody>
          <a:bodyPr wrap="square" lIns="0" rIns="0" tIns="0" bIns="0" anchor="t">
            <a:spAutoFit/>
          </a:bodyPr>
          <a:lstStyle/>
          <a:p>
            <a:pPr algn="ctr">
              <a:lnSpc>
                <a:spcPct val="95000"/>
              </a:lnSpc>
            </a:pPr>
            <a:r>
              <a:rPr sz="1600" b="0" i="0">
                <a:solidFill>
                  <a:srgbClr val="EE0000"/>
                </a:solidFill>
                <a:latin typeface="Red Hat Text"/>
              </a:rPr>
              <a:t>Where should this go next? We want your opinions.</a:t>
            </a:r>
          </a:p>
        </p:txBody>
      </p:sp>
      <p:sp>
        <p:nvSpPr>
          <p:cNvPr id="8" name="Oval 7"/>
          <p:cNvSpPr/>
          <p:nvPr/>
        </p:nvSpPr>
        <p:spPr>
          <a:xfrm>
            <a:off x="1069848" y="1655064"/>
            <a:ext cx="274320" cy="274320"/>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1</a:t>
            </a:r>
          </a:p>
        </p:txBody>
      </p:sp>
      <p:sp>
        <p:nvSpPr>
          <p:cNvPr id="9" name="TextBox 8"/>
          <p:cNvSpPr txBox="1"/>
          <p:nvPr/>
        </p:nvSpPr>
        <p:spPr>
          <a:xfrm>
            <a:off x="1472184" y="1627632"/>
            <a:ext cx="4288536" cy="274320"/>
          </a:xfrm>
          <a:prstGeom prst="rect">
            <a:avLst/>
          </a:prstGeom>
          <a:noFill/>
        </p:spPr>
        <p:txBody>
          <a:bodyPr wrap="square" lIns="0" rIns="0" tIns="0" bIns="0" anchor="t">
            <a:spAutoFit/>
          </a:bodyPr>
          <a:lstStyle/>
          <a:p>
            <a:pPr algn="l">
              <a:lnSpc>
                <a:spcPct val="100000"/>
              </a:lnSpc>
            </a:pPr>
            <a:r>
              <a:rPr sz="1400" b="1" i="0">
                <a:solidFill>
                  <a:srgbClr val="EE0000"/>
                </a:solidFill>
                <a:latin typeface="Red Hat Display"/>
              </a:rPr>
              <a:t>Wrap it all in a ServiceNow ticket?</a:t>
            </a:r>
          </a:p>
        </p:txBody>
      </p:sp>
      <p:sp>
        <p:nvSpPr>
          <p:cNvPr id="10" name="TextBox 9"/>
          <p:cNvSpPr txBox="1"/>
          <p:nvPr/>
        </p:nvSpPr>
        <p:spPr>
          <a:xfrm>
            <a:off x="1472184" y="1956816"/>
            <a:ext cx="4288536" cy="960120"/>
          </a:xfrm>
          <a:prstGeom prst="rect">
            <a:avLst/>
          </a:prstGeom>
          <a:noFill/>
        </p:spPr>
        <p:txBody>
          <a:bodyPr wrap="square" lIns="0" rIns="0" tIns="0" bIns="0" anchor="t">
            <a:spAutoFit/>
          </a:bodyPr>
          <a:lstStyle/>
          <a:p>
            <a:pPr algn="l">
              <a:lnSpc>
                <a:spcPct val="112000"/>
              </a:lnSpc>
            </a:pPr>
            <a:r>
              <a:rPr sz="1150" b="0" i="0">
                <a:solidFill>
                  <a:srgbClr val="151515"/>
                </a:solidFill>
                <a:latin typeface="Red Hat Text"/>
              </a:rPr>
              <a:t>Auto-create a change record at the switch node, attach the Concert impact analysis and Tekton logs, close it on validation. Governance, or just latency?</a:t>
            </a:r>
          </a:p>
        </p:txBody>
      </p:sp>
      <p:sp>
        <p:nvSpPr>
          <p:cNvPr id="11" name="Oval 10"/>
          <p:cNvSpPr/>
          <p:nvPr/>
        </p:nvSpPr>
        <p:spPr>
          <a:xfrm>
            <a:off x="6464808" y="1655064"/>
            <a:ext cx="274320" cy="274320"/>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2</a:t>
            </a:r>
          </a:p>
        </p:txBody>
      </p:sp>
      <p:sp>
        <p:nvSpPr>
          <p:cNvPr id="12" name="TextBox 11"/>
          <p:cNvSpPr txBox="1"/>
          <p:nvPr/>
        </p:nvSpPr>
        <p:spPr>
          <a:xfrm>
            <a:off x="6867144" y="1627632"/>
            <a:ext cx="4288536" cy="274320"/>
          </a:xfrm>
          <a:prstGeom prst="rect">
            <a:avLst/>
          </a:prstGeom>
          <a:noFill/>
        </p:spPr>
        <p:txBody>
          <a:bodyPr wrap="square" lIns="0" rIns="0" tIns="0" bIns="0" anchor="t">
            <a:spAutoFit/>
          </a:bodyPr>
          <a:lstStyle/>
          <a:p>
            <a:pPr algn="l">
              <a:lnSpc>
                <a:spcPct val="100000"/>
              </a:lnSpc>
            </a:pPr>
            <a:r>
              <a:rPr sz="1400" b="1" i="0">
                <a:solidFill>
                  <a:srgbClr val="EE0000"/>
                </a:solidFill>
                <a:latin typeface="Red Hat Display"/>
              </a:rPr>
              <a:t>More OpenShift-native — or more pizzazz?</a:t>
            </a:r>
          </a:p>
        </p:txBody>
      </p:sp>
      <p:sp>
        <p:nvSpPr>
          <p:cNvPr id="13" name="TextBox 12"/>
          <p:cNvSpPr txBox="1"/>
          <p:nvPr/>
        </p:nvSpPr>
        <p:spPr>
          <a:xfrm>
            <a:off x="6867144" y="1956816"/>
            <a:ext cx="4288536" cy="960120"/>
          </a:xfrm>
          <a:prstGeom prst="rect">
            <a:avLst/>
          </a:prstGeom>
          <a:noFill/>
        </p:spPr>
        <p:txBody>
          <a:bodyPr wrap="square" lIns="0" rIns="0" tIns="0" bIns="0" anchor="t">
            <a:spAutoFit/>
          </a:bodyPr>
          <a:lstStyle/>
          <a:p>
            <a:pPr algn="l">
              <a:lnSpc>
                <a:spcPct val="112000"/>
              </a:lnSpc>
            </a:pPr>
            <a:r>
              <a:rPr sz="1150" b="0" i="0">
                <a:solidFill>
                  <a:srgbClr val="151515"/>
                </a:solidFill>
                <a:latin typeface="Red Hat Text"/>
              </a:rPr>
              <a:t>Should more of this run as OCP-native primitives? What would make the demo memorable rather than merely correct?</a:t>
            </a:r>
          </a:p>
        </p:txBody>
      </p:sp>
      <p:sp>
        <p:nvSpPr>
          <p:cNvPr id="14" name="Oval 13"/>
          <p:cNvSpPr/>
          <p:nvPr/>
        </p:nvSpPr>
        <p:spPr>
          <a:xfrm>
            <a:off x="1069848" y="3136392"/>
            <a:ext cx="274320" cy="274320"/>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3</a:t>
            </a:r>
          </a:p>
        </p:txBody>
      </p:sp>
      <p:sp>
        <p:nvSpPr>
          <p:cNvPr id="15" name="TextBox 14"/>
          <p:cNvSpPr txBox="1"/>
          <p:nvPr/>
        </p:nvSpPr>
        <p:spPr>
          <a:xfrm>
            <a:off x="1472184" y="3108960"/>
            <a:ext cx="4288536" cy="274320"/>
          </a:xfrm>
          <a:prstGeom prst="rect">
            <a:avLst/>
          </a:prstGeom>
          <a:noFill/>
        </p:spPr>
        <p:txBody>
          <a:bodyPr wrap="square" lIns="0" rIns="0" tIns="0" bIns="0" anchor="t">
            <a:spAutoFit/>
          </a:bodyPr>
          <a:lstStyle/>
          <a:p>
            <a:pPr algn="l">
              <a:lnSpc>
                <a:spcPct val="100000"/>
              </a:lnSpc>
            </a:pPr>
            <a:r>
              <a:rPr sz="1400" b="1" i="0">
                <a:solidFill>
                  <a:srgbClr val="EE0000"/>
                </a:solidFill>
                <a:latin typeface="Red Hat Display"/>
              </a:rPr>
              <a:t>Policy gates.</a:t>
            </a:r>
          </a:p>
        </p:txBody>
      </p:sp>
      <p:sp>
        <p:nvSpPr>
          <p:cNvPr id="16" name="TextBox 15"/>
          <p:cNvSpPr txBox="1"/>
          <p:nvPr/>
        </p:nvSpPr>
        <p:spPr>
          <a:xfrm>
            <a:off x="1472184" y="3438144"/>
            <a:ext cx="4288536" cy="960120"/>
          </a:xfrm>
          <a:prstGeom prst="rect">
            <a:avLst/>
          </a:prstGeom>
          <a:noFill/>
        </p:spPr>
        <p:txBody>
          <a:bodyPr wrap="square" lIns="0" rIns="0" tIns="0" bIns="0" anchor="t">
            <a:spAutoFit/>
          </a:bodyPr>
          <a:lstStyle/>
          <a:p>
            <a:pPr algn="l">
              <a:lnSpc>
                <a:spcPct val="112000"/>
              </a:lnSpc>
            </a:pPr>
            <a:r>
              <a:rPr sz="1150" b="0" i="0">
                <a:solidFill>
                  <a:srgbClr val="151515"/>
                </a:solidFill>
                <a:latin typeface="Red Hat Text"/>
              </a:rPr>
              <a:t>Where do OPA / Kyverno / ACS admission policies belong? Block at admission, or gate earlier in the pipeline? Who owns the policy?</a:t>
            </a:r>
          </a:p>
        </p:txBody>
      </p:sp>
      <p:sp>
        <p:nvSpPr>
          <p:cNvPr id="17" name="Oval 16"/>
          <p:cNvSpPr/>
          <p:nvPr/>
        </p:nvSpPr>
        <p:spPr>
          <a:xfrm>
            <a:off x="6464808" y="3136392"/>
            <a:ext cx="274320" cy="274320"/>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4</a:t>
            </a:r>
          </a:p>
        </p:txBody>
      </p:sp>
      <p:sp>
        <p:nvSpPr>
          <p:cNvPr id="18" name="TextBox 17"/>
          <p:cNvSpPr txBox="1"/>
          <p:nvPr/>
        </p:nvSpPr>
        <p:spPr>
          <a:xfrm>
            <a:off x="6867144" y="3108960"/>
            <a:ext cx="4288536" cy="274320"/>
          </a:xfrm>
          <a:prstGeom prst="rect">
            <a:avLst/>
          </a:prstGeom>
          <a:noFill/>
        </p:spPr>
        <p:txBody>
          <a:bodyPr wrap="square" lIns="0" rIns="0" tIns="0" bIns="0" anchor="t">
            <a:spAutoFit/>
          </a:bodyPr>
          <a:lstStyle/>
          <a:p>
            <a:pPr algn="l">
              <a:lnSpc>
                <a:spcPct val="100000"/>
              </a:lnSpc>
            </a:pPr>
            <a:r>
              <a:rPr sz="1400" b="1" i="0">
                <a:solidFill>
                  <a:srgbClr val="EE0000"/>
                </a:solidFill>
                <a:latin typeface="Red Hat Display"/>
              </a:rPr>
              <a:t>Red Hat Dependency Analytics.</a:t>
            </a:r>
          </a:p>
        </p:txBody>
      </p:sp>
      <p:sp>
        <p:nvSpPr>
          <p:cNvPr id="19" name="TextBox 18"/>
          <p:cNvSpPr txBox="1"/>
          <p:nvPr/>
        </p:nvSpPr>
        <p:spPr>
          <a:xfrm>
            <a:off x="6867144" y="3438144"/>
            <a:ext cx="4288536" cy="960120"/>
          </a:xfrm>
          <a:prstGeom prst="rect">
            <a:avLst/>
          </a:prstGeom>
          <a:noFill/>
        </p:spPr>
        <p:txBody>
          <a:bodyPr wrap="square" lIns="0" rIns="0" tIns="0" bIns="0" anchor="t">
            <a:spAutoFit/>
          </a:bodyPr>
          <a:lstStyle/>
          <a:p>
            <a:pPr algn="l">
              <a:lnSpc>
                <a:spcPct val="112000"/>
              </a:lnSpc>
            </a:pPr>
            <a:r>
              <a:rPr sz="1150" b="0" i="0">
                <a:solidFill>
                  <a:srgbClr val="151515"/>
                </a:solidFill>
                <a:latin typeface="Red Hat Text"/>
              </a:rPr>
              <a:t>Does RHDA overlap with Concert here, or complement it? Shift-left in the IDE vs. portfolio-wide inventory — do both run?</a:t>
            </a:r>
          </a:p>
        </p:txBody>
      </p:sp>
      <p:sp>
        <p:nvSpPr>
          <p:cNvPr id="20" name="Oval 19"/>
          <p:cNvSpPr/>
          <p:nvPr/>
        </p:nvSpPr>
        <p:spPr>
          <a:xfrm>
            <a:off x="1069848" y="4617720"/>
            <a:ext cx="274320" cy="274320"/>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5</a:t>
            </a:r>
          </a:p>
        </p:txBody>
      </p:sp>
      <p:sp>
        <p:nvSpPr>
          <p:cNvPr id="21" name="TextBox 20"/>
          <p:cNvSpPr txBox="1"/>
          <p:nvPr/>
        </p:nvSpPr>
        <p:spPr>
          <a:xfrm>
            <a:off x="1472184" y="4590288"/>
            <a:ext cx="4288536" cy="274320"/>
          </a:xfrm>
          <a:prstGeom prst="rect">
            <a:avLst/>
          </a:prstGeom>
          <a:noFill/>
        </p:spPr>
        <p:txBody>
          <a:bodyPr wrap="square" lIns="0" rIns="0" tIns="0" bIns="0" anchor="t">
            <a:spAutoFit/>
          </a:bodyPr>
          <a:lstStyle/>
          <a:p>
            <a:pPr algn="l">
              <a:lnSpc>
                <a:spcPct val="100000"/>
              </a:lnSpc>
            </a:pPr>
            <a:r>
              <a:rPr sz="1400" b="1" i="0">
                <a:solidFill>
                  <a:srgbClr val="EE0000"/>
                </a:solidFill>
                <a:latin typeface="Red Hat Display"/>
              </a:rPr>
              <a:t>Trusted Profile Analyzer.</a:t>
            </a:r>
          </a:p>
        </p:txBody>
      </p:sp>
      <p:sp>
        <p:nvSpPr>
          <p:cNvPr id="22" name="TextBox 21"/>
          <p:cNvSpPr txBox="1"/>
          <p:nvPr/>
        </p:nvSpPr>
        <p:spPr>
          <a:xfrm>
            <a:off x="1472184" y="4919472"/>
            <a:ext cx="4288536" cy="960120"/>
          </a:xfrm>
          <a:prstGeom prst="rect">
            <a:avLst/>
          </a:prstGeom>
          <a:noFill/>
        </p:spPr>
        <p:txBody>
          <a:bodyPr wrap="square" lIns="0" rIns="0" tIns="0" bIns="0" anchor="t">
            <a:spAutoFit/>
          </a:bodyPr>
          <a:lstStyle/>
          <a:p>
            <a:pPr algn="l">
              <a:lnSpc>
                <a:spcPct val="112000"/>
              </a:lnSpc>
            </a:pPr>
            <a:r>
              <a:rPr sz="1150" b="0" i="0">
                <a:solidFill>
                  <a:srgbClr val="151515"/>
                </a:solidFill>
                <a:latin typeface="Red Hat Text"/>
              </a:rPr>
              <a:t>Where does TPA fit for SBOM attestation and VEX? Should Tekton emit a signed SBOM so the trail includes provenance, not just a version bump?</a:t>
            </a:r>
          </a:p>
        </p:txBody>
      </p:sp>
      <p:sp>
        <p:nvSpPr>
          <p:cNvPr id="23" name="Oval 22"/>
          <p:cNvSpPr/>
          <p:nvPr/>
        </p:nvSpPr>
        <p:spPr>
          <a:xfrm>
            <a:off x="6464808" y="4617720"/>
            <a:ext cx="274320" cy="274320"/>
          </a:xfrm>
          <a:prstGeom prst="ellipse">
            <a:avLst/>
          </a:prstGeom>
          <a:solidFill>
            <a:srgbClr val="F2F2F2"/>
          </a:solidFill>
          <a:ln w="12700">
            <a:solidFill>
              <a:srgbClr val="9C9C9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1515"/>
                </a:solidFill>
                <a:latin typeface="Red Hat Display"/>
              </a:rPr>
              <a:t>6</a:t>
            </a:r>
          </a:p>
        </p:txBody>
      </p:sp>
      <p:sp>
        <p:nvSpPr>
          <p:cNvPr id="24" name="TextBox 23"/>
          <p:cNvSpPr txBox="1"/>
          <p:nvPr/>
        </p:nvSpPr>
        <p:spPr>
          <a:xfrm>
            <a:off x="6867144" y="4590288"/>
            <a:ext cx="4288536" cy="274320"/>
          </a:xfrm>
          <a:prstGeom prst="rect">
            <a:avLst/>
          </a:prstGeom>
          <a:noFill/>
        </p:spPr>
        <p:txBody>
          <a:bodyPr wrap="square" lIns="0" rIns="0" tIns="0" bIns="0" anchor="t">
            <a:spAutoFit/>
          </a:bodyPr>
          <a:lstStyle/>
          <a:p>
            <a:pPr algn="l">
              <a:lnSpc>
                <a:spcPct val="100000"/>
              </a:lnSpc>
            </a:pPr>
            <a:r>
              <a:rPr sz="1400" b="1" i="0">
                <a:solidFill>
                  <a:srgbClr val="EE0000"/>
                </a:solidFill>
                <a:latin typeface="Red Hat Display"/>
              </a:rPr>
              <a:t>Should prod ever be fully hands-off?</a:t>
            </a:r>
          </a:p>
        </p:txBody>
      </p:sp>
      <p:sp>
        <p:nvSpPr>
          <p:cNvPr id="25" name="TextBox 24"/>
          <p:cNvSpPr txBox="1"/>
          <p:nvPr/>
        </p:nvSpPr>
        <p:spPr>
          <a:xfrm>
            <a:off x="6867144" y="4919472"/>
            <a:ext cx="4288536" cy="960120"/>
          </a:xfrm>
          <a:prstGeom prst="rect">
            <a:avLst/>
          </a:prstGeom>
          <a:noFill/>
        </p:spPr>
        <p:txBody>
          <a:bodyPr wrap="square" lIns="0" rIns="0" tIns="0" bIns="0" anchor="t">
            <a:spAutoFit/>
          </a:bodyPr>
          <a:lstStyle/>
          <a:p>
            <a:pPr algn="l">
              <a:lnSpc>
                <a:spcPct val="112000"/>
              </a:lnSpc>
            </a:pPr>
            <a:r>
              <a:rPr sz="1150" b="0" i="0">
                <a:solidFill>
                  <a:srgbClr val="151515"/>
                </a:solidFill>
                <a:latin typeface="Red Hat Text"/>
              </a:rPr>
              <a:t>The one we keep arguing about. If an approval gate is always required — approval by whom, and on what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ummit-title-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13232" y="2331720"/>
            <a:ext cx="8778240" cy="914400"/>
          </a:xfrm>
          <a:prstGeom prst="rect">
            <a:avLst/>
          </a:prstGeom>
          <a:noFill/>
        </p:spPr>
        <p:txBody>
          <a:bodyPr wrap="square" lIns="0" rIns="0" tIns="0" bIns="0" anchor="t">
            <a:spAutoFit/>
          </a:bodyPr>
          <a:lstStyle/>
          <a:p>
            <a:pPr algn="l">
              <a:lnSpc>
                <a:spcPct val="100000"/>
              </a:lnSpc>
            </a:pPr>
            <a:r>
              <a:rPr sz="4400" b="0" i="0">
                <a:solidFill>
                  <a:srgbClr val="FFFFFF"/>
                </a:solidFill>
                <a:latin typeface="Red Hat Display"/>
              </a:rPr>
              <a:t>Let's build it</a:t>
            </a:r>
          </a:p>
        </p:txBody>
      </p:sp>
      <p:sp>
        <p:nvSpPr>
          <p:cNvPr id="4" name="TextBox 3"/>
          <p:cNvSpPr txBox="1"/>
          <p:nvPr/>
        </p:nvSpPr>
        <p:spPr>
          <a:xfrm>
            <a:off x="731520" y="3429000"/>
            <a:ext cx="8778240" cy="365760"/>
          </a:xfrm>
          <a:prstGeom prst="rect">
            <a:avLst/>
          </a:prstGeom>
          <a:noFill/>
        </p:spPr>
        <p:txBody>
          <a:bodyPr wrap="square" lIns="0" rIns="0" tIns="0" bIns="0" anchor="t">
            <a:spAutoFit/>
          </a:bodyPr>
          <a:lstStyle/>
          <a:p>
            <a:pPr algn="l">
              <a:lnSpc>
                <a:spcPct val="100000"/>
              </a:lnSpc>
            </a:pPr>
            <a:r>
              <a:rPr sz="1700" b="0" i="0">
                <a:solidFill>
                  <a:srgbClr val="FFFFFF"/>
                </a:solidFill>
                <a:latin typeface="Red Hat Text"/>
              </a:rPr>
              <a:t>Module 1: Detect — package publish and Concert impact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